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3e4f3f6bd94880" /><Relationship Type="http://schemas.openxmlformats.org/officeDocument/2006/relationships/extended-properties" Target="/docProps/app.xml" Id="R1f56a0b787ee42c2" /><Relationship Type="http://schemas.openxmlformats.org/officeDocument/2006/relationships/officeDocument" Target="/ppt/presentation.xml" Id="Rfb30a2d622e940e0" /></Relationships>
</file>

<file path=ppt/presentation.xml><?xml version="1.0" encoding="utf-8"?>
<p:presentation xmlns:p="http://schemas.openxmlformats.org/presentationml/2006/main">
  <p:sldMasterIdLst>
    <p:sldMasterId xmlns:r="http://schemas.openxmlformats.org/officeDocument/2006/relationships" id="2147483648" r:id="Rf311c3fa3742458b"/>
  </p:sldMasterIdLst>
  <p:notesMasterIdLst>
    <p:notesMasterId xmlns:r="http://schemas.openxmlformats.org/officeDocument/2006/relationships" r:id="R0c694a20037248b9"/>
  </p:notesMasterIdLst>
  <p:sldIdLst>
    <p:sldId xmlns:r="http://schemas.openxmlformats.org/officeDocument/2006/relationships" id="256" r:id="R0600e28bbbdc4050"/>
    <p:sldId xmlns:r="http://schemas.openxmlformats.org/officeDocument/2006/relationships" id="257" r:id="Recf1601c95b8403f"/>
    <p:sldId xmlns:r="http://schemas.openxmlformats.org/officeDocument/2006/relationships" id="258" r:id="Rfb7a30ebca2744b9"/>
    <p:sldId xmlns:r="http://schemas.openxmlformats.org/officeDocument/2006/relationships" id="259" r:id="R7084ce9bb1e74f9b"/>
    <p:sldId xmlns:r="http://schemas.openxmlformats.org/officeDocument/2006/relationships" id="260" r:id="R159960caeb2843d9"/>
    <p:sldId xmlns:r="http://schemas.openxmlformats.org/officeDocument/2006/relationships" id="261" r:id="R5356b01b0af940ef"/>
    <p:sldId xmlns:r="http://schemas.openxmlformats.org/officeDocument/2006/relationships" id="262" r:id="Re6a8a4f2d8274d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d19ffbbb2cd44a1" /><Relationship Type="http://schemas.openxmlformats.org/officeDocument/2006/relationships/slideMaster" Target="/ppt/slideMasters/slideMaster1.xml" Id="Rf311c3fa3742458b" /><Relationship Type="http://schemas.openxmlformats.org/officeDocument/2006/relationships/notesMaster" Target="/ppt/notesMasters/notesMaster1.xml" Id="R0c694a20037248b9" /><Relationship Type="http://schemas.openxmlformats.org/officeDocument/2006/relationships/presProps" Target="/ppt/presProps.xml" Id="R117ed534a6234e3f" /><Relationship Type="http://schemas.openxmlformats.org/officeDocument/2006/relationships/viewProps" Target="/ppt/viewProps.xml" Id="Re5ee079038ef48fd" /><Relationship Type="http://schemas.openxmlformats.org/officeDocument/2006/relationships/tableStyles" Target="/ppt/tableStyles.xml" Id="Reb038f10d9d74971" /><Relationship Type="http://schemas.openxmlformats.org/officeDocument/2006/relationships/slide" Target="/ppt/slides/slide1.xml" Id="R0600e28bbbdc4050" /><Relationship Type="http://schemas.openxmlformats.org/officeDocument/2006/relationships/slide" Target="/ppt/slides/slide2.xml" Id="Recf1601c95b8403f" /><Relationship Type="http://schemas.openxmlformats.org/officeDocument/2006/relationships/slide" Target="/ppt/slides/slide3.xml" Id="Rfb7a30ebca2744b9" /><Relationship Type="http://schemas.openxmlformats.org/officeDocument/2006/relationships/slide" Target="/ppt/slides/slide4.xml" Id="R7084ce9bb1e74f9b" /><Relationship Type="http://schemas.openxmlformats.org/officeDocument/2006/relationships/slide" Target="/ppt/slides/slide5.xml" Id="R159960caeb2843d9" /><Relationship Type="http://schemas.openxmlformats.org/officeDocument/2006/relationships/slide" Target="/ppt/slides/slide6.xml" Id="R5356b01b0af940ef" /><Relationship Type="http://schemas.openxmlformats.org/officeDocument/2006/relationships/slide" Target="/ppt/slides/slide7.xml" Id="Re6a8a4f2d8274d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c6e3863e2242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1cf3501adf4a54" /><Relationship Type="http://schemas.openxmlformats.org/officeDocument/2006/relationships/notesMaster" Target="/ppt/notesMasters/notesMaster1.xml" Id="Rf80ae4dea33642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e24788ce684dcc" /><Relationship Type="http://schemas.openxmlformats.org/officeDocument/2006/relationships/notesMaster" Target="/ppt/notesMasters/notesMaster1.xml" Id="Rcf8b174d91ff4c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a7ec32c28c4aac" /><Relationship Type="http://schemas.openxmlformats.org/officeDocument/2006/relationships/notesMaster" Target="/ppt/notesMasters/notesMaster1.xml" Id="R55550be67aad4b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bb7e7d39c64140" /><Relationship Type="http://schemas.openxmlformats.org/officeDocument/2006/relationships/notesMaster" Target="/ppt/notesMasters/notesMaster1.xml" Id="R914f28b5437742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b21e3fde78473b" /><Relationship Type="http://schemas.openxmlformats.org/officeDocument/2006/relationships/notesMaster" Target="/ppt/notesMasters/notesMaster1.xml" Id="R8d681d2b6d9b41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0c463f10284517" /><Relationship Type="http://schemas.openxmlformats.org/officeDocument/2006/relationships/notesMaster" Target="/ppt/notesMasters/notesMaster1.xml" Id="Rf579d0cf088440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3aec85d9894bca" /><Relationship Type="http://schemas.openxmlformats.org/officeDocument/2006/relationships/notesMaster" Target="/ppt/notesMasters/notesMaster1.xml" Id="Rd33e041c739544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Smriti Sathi is an assistive cognitive engagement and daily routine prototype for older adults and their families. It does not diagnose dementia or establish a treatment effect. Team name provided by the team: Team Vincera. Registered team ID remains to be entered.</a:t>
            </a:r>
          </a:p>
          <a:p xmlns:a="http://schemas.openxmlformats.org/drawingml/2006/main">
            <a:r>
              <a:t>Problem statement title, ministry, category and theme: https://sih2026.vuce.in/ps/SIH26003 . This is a community-maintained mirror. The official SIH page could not be retrieved during research. Cross-check registration metadata on the portal before submission.</a:t>
            </a:r>
          </a:p>
          <a:p xmlns:a="http://schemas.openxmlformats.org/drawingml/2006/main">
            <a:r>
              <a:t>Code evidence: package.json, PRD.md, src/lib/types.ts.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GAME ANALYSIS AND RESEARCH CONNECTIONS</a:t>
            </a:r>
            <a:endParaRPr/>
          </a:p>
          <a:p xmlns:a="http://schemas.openxmlformats.org/drawingml/2006/main">
            <a:pPr>
              <a:spcBef>
                <a:spcPct val="0"/>
              </a:spcBef>
              <a:buNone/>
            </a:pPr>
            <a:r>
              <a:t>The catalogue has 23 games. Six language choices exist, but individual question banks and screens do not have equally complete translations. Game labels describe intended task demands, not validated clinical outcomes.</a:t>
            </a:r>
            <a:endParaRPr/>
          </a:p>
          <a:p xmlns:a="http://schemas.openxmlformats.org/drawingml/2006/main">
            <a:pPr>
              <a:spcBef>
                <a:spcPct val="0"/>
              </a:spcBef>
              <a:buNone/>
            </a:pPr>
            <a:r>
              <a:t/>
            </a:r>
            <a:endParaRPr/>
          </a:p>
          <a:p xmlns:a="http://schemas.openxmlformats.org/drawingml/2006/main">
            <a:pPr>
              <a:spcBef>
                <a:spcPct val="0"/>
              </a:spcBef>
              <a:buNone/>
            </a:pPr>
            <a:r>
              <a:t>Memory tasks [1]</a:t>
            </a:r>
            <a:endParaRPr/>
          </a:p>
          <a:p xmlns:a="http://schemas.openxmlformats.org/drawingml/2006/main">
            <a:pPr>
              <a:spcBef>
                <a:spcPct val="0"/>
              </a:spcBef>
              <a:buNone/>
            </a:pPr>
            <a:r>
              <a:t>Orchid Pairs: turn over two hidden cards and match them. Two boards, with board-level difficulty updates. A missed pair remains visible for two seconds. This exact timing is a design choice, not established by the cited review.</a:t>
            </a:r>
            <a:endParaRPr/>
          </a:p>
          <a:p xmlns:a="http://schemas.openxmlformats.org/drawingml/2006/main">
            <a:pPr>
              <a:spcBef>
                <a:spcPct val="0"/>
              </a:spcBef>
              <a:buNone/>
            </a:pPr>
            <a:r>
              <a:t>Memory Tray: view objects for ten seconds, then identify the missing item over four rounds.</a:t>
            </a:r>
            <a:endParaRPr/>
          </a:p>
          <a:p xmlns:a="http://schemas.openxmlformats.org/drawingml/2006/main">
            <a:pPr>
              <a:spcBef>
                <a:spcPct val="0"/>
              </a:spcBef>
              <a:buNone/>
            </a:pPr>
            <a:r>
              <a:t>Picture Memory: inspect a scene, then answer a recall question over four rounds.</a:t>
            </a:r>
            <a:endParaRPr/>
          </a:p>
          <a:p xmlns:a="http://schemas.openxmlformats.org/drawingml/2006/main">
            <a:pPr>
              <a:spcBef>
                <a:spcPct val="0"/>
              </a:spcBef>
              <a:buNone/>
            </a:pPr>
            <a:r>
              <a:t>Faces of Home: identify a family member from supplied photos or fallback avatars over five rounds. The code saves spacing levels, but target selection currently cycles through faces. It does not schedule retrieval from those spacing intervals.</a:t>
            </a:r>
            <a:endParaRPr/>
          </a:p>
          <a:p xmlns:a="http://schemas.openxmlformats.org/drawingml/2006/main">
            <a:pPr>
              <a:spcBef>
                <a:spcPct val="0"/>
              </a:spcBef>
              <a:buNone/>
            </a:pPr>
            <a:r>
              <a:t/>
            </a:r>
            <a:endParaRPr/>
          </a:p>
          <a:p xmlns:a="http://schemas.openxmlformats.org/drawingml/2006/main">
            <a:pPr>
              <a:spcBef>
                <a:spcPct val="0"/>
              </a:spcBef>
              <a:buNone/>
            </a:pPr>
            <a:r>
              <a:t>Recognition and language tasks [2]</a:t>
            </a:r>
            <a:endParaRPr/>
          </a:p>
          <a:p xmlns:a="http://schemas.openxmlformats.org/drawingml/2006/main">
            <a:pPr>
              <a:spcBef>
                <a:spcPct val="0"/>
              </a:spcBef>
              <a:buNone/>
            </a:pPr>
            <a:r>
              <a:t>Traditional Foods: select a dish from its description using regional food banks.</a:t>
            </a:r>
            <a:endParaRPr/>
          </a:p>
          <a:p xmlns:a="http://schemas.openxmlformats.org/drawingml/2006/main">
            <a:pPr>
              <a:spcBef>
                <a:spcPct val="0"/>
              </a:spcBef>
              <a:buNone/>
            </a:pPr>
            <a:r>
              <a:t>Familiar Objects: identify household objects from a prompt.</a:t>
            </a:r>
            <a:endParaRPr/>
          </a:p>
          <a:p xmlns:a="http://schemas.openxmlformats.org/drawingml/2006/main">
            <a:pPr>
              <a:spcBef>
                <a:spcPct val="0"/>
              </a:spcBef>
              <a:buNone/>
            </a:pPr>
            <a:r>
              <a:t>Morning Melodies: listen to a synthesised instrument sound and choose the instrument. This is auditory recognition, not a music-therapy protocol.</a:t>
            </a:r>
            <a:endParaRPr/>
          </a:p>
          <a:p xmlns:a="http://schemas.openxmlformats.org/drawingml/2006/main">
            <a:pPr>
              <a:spcBef>
                <a:spcPct val="0"/>
              </a:spcBef>
              <a:buNone/>
            </a:pPr>
            <a:r>
              <a:t>Village Sounds: recognise familiar environmental sounds.</a:t>
            </a:r>
            <a:endParaRPr/>
          </a:p>
          <a:p xmlns:a="http://schemas.openxmlformats.org/drawingml/2006/main">
            <a:pPr>
              <a:spcBef>
                <a:spcPct val="0"/>
              </a:spcBef>
              <a:buNone/>
            </a:pPr>
            <a:r>
              <a:t>Northeast Places &amp; Nature: identify regional landmarks.</a:t>
            </a:r>
            <a:endParaRPr/>
          </a:p>
          <a:p xmlns:a="http://schemas.openxmlformats.org/drawingml/2006/main">
            <a:pPr>
              <a:spcBef>
                <a:spcPct val="0"/>
              </a:spcBef>
              <a:buNone/>
            </a:pPr>
            <a:r>
              <a:t>Familiar Phrases: complete a familiar phrase.</a:t>
            </a:r>
            <a:endParaRPr/>
          </a:p>
          <a:p xmlns:a="http://schemas.openxmlformats.org/drawingml/2006/main">
            <a:pPr>
              <a:spcBef>
                <a:spcPct val="0"/>
              </a:spcBef>
              <a:buNone/>
            </a:pPr>
            <a:r>
              <a:t>Word Harvest: select words associated with a category.</a:t>
            </a:r>
            <a:endParaRPr/>
          </a:p>
          <a:p xmlns:a="http://schemas.openxmlformats.org/drawingml/2006/main">
            <a:pPr>
              <a:spcBef>
                <a:spcPct val="0"/>
              </a:spcBef>
              <a:buNone/>
            </a:pPr>
            <a:r>
              <a:t/>
            </a:r>
            <a:endParaRPr/>
          </a:p>
          <a:p xmlns:a="http://schemas.openxmlformats.org/drawingml/2006/main">
            <a:pPr>
              <a:spcBef>
                <a:spcPct val="0"/>
              </a:spcBef>
              <a:buNone/>
            </a:pPr>
            <a:r>
              <a:t>Attention, sequence and reasoning tasks [2]</a:t>
            </a:r>
            <a:endParaRPr/>
          </a:p>
          <a:p xmlns:a="http://schemas.openxmlformats.org/drawingml/2006/main">
            <a:pPr>
              <a:spcBef>
                <a:spcPct val="0"/>
              </a:spcBef>
              <a:buNone/>
            </a:pPr>
            <a:r>
              <a:t>Daily Life Sequence: tap routine steps in order. Wrong choices highlight a helpful next step. A four-second cue timer supports completion.</a:t>
            </a:r>
            <a:endParaRPr/>
          </a:p>
          <a:p xmlns:a="http://schemas.openxmlformats.org/drawingml/2006/main">
            <a:pPr>
              <a:spcBef>
                <a:spcPct val="0"/>
              </a:spcBef>
              <a:buNone/>
            </a:pPr>
            <a:r>
              <a:t>Number Bridge: tap numbers in order.</a:t>
            </a:r>
            <a:endParaRPr/>
          </a:p>
          <a:p xmlns:a="http://schemas.openxmlformats.org/drawingml/2006/main">
            <a:pPr>
              <a:spcBef>
                <a:spcPct val="0"/>
              </a:spcBef>
              <a:buNone/>
            </a:pPr>
            <a:r>
              <a:t>Weaver’s Loom: complete a visual motif.</a:t>
            </a:r>
            <a:endParaRPr/>
          </a:p>
          <a:p xmlns:a="http://schemas.openxmlformats.org/drawingml/2006/main">
            <a:pPr>
              <a:spcBef>
                <a:spcPct val="0"/>
              </a:spcBef>
              <a:buNone/>
            </a:pPr>
            <a:r>
              <a:t>Bamboo Crafting: sort an item into a category.</a:t>
            </a:r>
            <a:endParaRPr/>
          </a:p>
          <a:p xmlns:a="http://schemas.openxmlformats.org/drawingml/2006/main">
            <a:pPr>
              <a:spcBef>
                <a:spcPct val="0"/>
              </a:spcBef>
              <a:buNone/>
            </a:pPr>
            <a:r>
              <a:t>Odd One Out: identify the item outside a category.</a:t>
            </a:r>
            <a:endParaRPr/>
          </a:p>
          <a:p xmlns:a="http://schemas.openxmlformats.org/drawingml/2006/main">
            <a:pPr>
              <a:spcBef>
                <a:spcPct val="0"/>
              </a:spcBef>
              <a:buNone/>
            </a:pPr>
            <a:r>
              <a:t>Wildlife Safari: find targets in a visual scene.</a:t>
            </a:r>
            <a:endParaRPr/>
          </a:p>
          <a:p xmlns:a="http://schemas.openxmlformats.org/drawingml/2006/main">
            <a:pPr>
              <a:spcBef>
                <a:spcPct val="0"/>
              </a:spcBef>
              <a:buNone/>
            </a:pPr>
            <a:r>
              <a:t>Spot the Difference: identify the changed item between two scenes.</a:t>
            </a:r>
            <a:endParaRPr/>
          </a:p>
          <a:p xmlns:a="http://schemas.openxmlformats.org/drawingml/2006/main">
            <a:pPr>
              <a:spcBef>
                <a:spcPct val="0"/>
              </a:spcBef>
              <a:buNone/>
            </a:pPr>
            <a:r>
              <a:t>Tea Garden Walk: follow a path across a grid.</a:t>
            </a:r>
            <a:endParaRPr/>
          </a:p>
          <a:p xmlns:a="http://schemas.openxmlformats.org/drawingml/2006/main">
            <a:pPr>
              <a:spcBef>
                <a:spcPct val="0"/>
              </a:spcBef>
              <a:buNone/>
            </a:pPr>
            <a:r>
              <a:t>Cheraw Steps: reproduce a left/right rhythm by tapping. It is not an exercise programme or a mobility assessment.</a:t>
            </a:r>
            <a:endParaRPr/>
          </a:p>
          <a:p xmlns:a="http://schemas.openxmlformats.org/drawingml/2006/main">
            <a:pPr>
              <a:spcBef>
                <a:spcPct val="0"/>
              </a:spcBef>
              <a:buNone/>
            </a:pPr>
            <a:r>
              <a:t>Market Day: select purchases within a budget. It cannot establish real-world financial capacity.</a:t>
            </a:r>
            <a:endParaRPr/>
          </a:p>
          <a:p xmlns:a="http://schemas.openxmlformats.org/drawingml/2006/main">
            <a:pPr>
              <a:spcBef>
                <a:spcPct val="0"/>
              </a:spcBef>
              <a:buNone/>
            </a:pPr>
            <a:r>
              <a:t/>
            </a:r>
            <a:endParaRPr/>
          </a:p>
          <a:p xmlns:a="http://schemas.openxmlformats.org/drawingml/2006/main">
            <a:pPr>
              <a:spcBef>
                <a:spcPct val="0"/>
              </a:spcBef>
              <a:buNone/>
            </a:pPr>
            <a:r>
              <a:t>Conversation and calm activities [3]</a:t>
            </a:r>
            <a:endParaRPr/>
          </a:p>
          <a:p xmlns:a="http://schemas.openxmlformats.org/drawingml/2006/main">
            <a:pPr>
              <a:spcBef>
                <a:spcPct val="0"/>
              </a:spcBef>
              <a:buNone/>
            </a:pPr>
            <a:r>
              <a:t>Festival Tales: read personalised festival stories and select subjective preferences. There is no right/wrong answer.</a:t>
            </a:r>
            <a:endParaRPr/>
          </a:p>
          <a:p xmlns:a="http://schemas.openxmlformats.org/drawingml/2006/main">
            <a:pPr>
              <a:spcBef>
                <a:spcPct val="0"/>
              </a:spcBef>
              <a:buNone/>
            </a:pPr>
            <a:r>
              <a:t>Memory Garden: follow breathing cues and tap flowers to water them. Its completion measure represents participation, not cognitive accuracy.</a:t>
            </a:r>
            <a:endParaRPr/>
          </a:p>
          <a:p xmlns:a="http://schemas.openxmlformats.org/drawingml/2006/main">
            <a:pPr>
              <a:spcBef>
                <a:spcPct val="0"/>
              </a:spcBef>
              <a:buNone/>
            </a:pPr>
            <a:r>
              <a:t/>
            </a:r>
            <a:endParaRPr/>
          </a:p>
          <a:p xmlns:a="http://schemas.openxmlformats.org/drawingml/2006/main">
            <a:pPr>
              <a:spcBef>
                <a:spcPct val="0"/>
              </a:spcBef>
              <a:buNone/>
            </a:pPr>
            <a:r>
              <a:t>Interpretation limits</a:t>
            </a:r>
            <a:endParaRPr/>
          </a:p>
          <a:p xmlns:a="http://schemas.openxmlformats.org/drawingml/2006/main">
            <a:pPr>
              <a:spcBef>
                <a:spcPct val="0"/>
              </a:spcBef>
              <a:buNone/>
            </a:pPr>
            <a:r>
              <a:t>The current scoring bridge uses a fixed 3500 ms latency and derives hint count from answer correctness. It does not feed actual per-question timing and hint events into the question engine. Some game domain aliases fall back to recognition. The separate question selector has no gameplay caller in the current source.</a:t>
            </a:r>
            <a:endParaRPr/>
          </a:p>
          <a:p xmlns:a="http://schemas.openxmlformats.org/drawingml/2006/main">
            <a:pPr>
              <a:spcBef>
                <a:spcPct val="0"/>
              </a:spcBef>
              <a:buNone/>
            </a:pPr>
            <a:r>
              <a:t>Use memory/attention scores as task-specific observations. Distinguish cued responses, independent responses and participation. Standardise timing, hint logging and domain mapping before formal evaluation.</a:t>
            </a:r>
            <a:endParaRPr/>
          </a:p>
          <a:p xmlns:a="http://schemas.openxmlformats.org/drawingml/2006/main">
            <a:pPr>
              <a:spcBef>
                <a:spcPct val="0"/>
              </a:spcBef>
              <a:buNone/>
            </a:pPr>
            <a:r>
              <a:t/>
            </a:r>
            <a:endParaRPr/>
          </a:p>
          <a:p xmlns:a="http://schemas.openxmlformats.org/drawingml/2006/main">
            <a:pPr>
              <a:spcBef>
                <a:spcPct val="0"/>
              </a:spcBef>
              <a:buNone/>
            </a:pPr>
            <a:r>
              <a:t>References [1] Chan et al. (2024): https://doi.org/10.1038/s41746-023-00987-5 . [2] Woods et al. (2023): https://doi.org/10.1002/14651858.CD005562.pub3 . [3] Elfrink et al. (2021): https://doi.org/10.1371/journal.pone.0256251 . These links connect related intervention types to design choices. None evaluates these exact games.</a:t>
            </a:r>
            <a:endParaRPr/>
          </a:p>
          <a:p xmlns:a="http://schemas.openxmlformats.org/drawingml/2006/main">
            <a:pPr>
              <a:spcBef>
                <a:spcPct val="0"/>
              </a:spcBef>
              <a:buNone/>
            </a:pPr>
            <a:r>
              <a:t>Code evidence: src/games/*.tsx, src/lib/content.ts, src/lib/adaptive.ts, src/lib/srt.ts, src/lib/games.ts.</a:t>
            </a:r>
            <a:endParaRPr/>
          </a:p>
          <a:p xmlns:a="http://schemas.openxmlformats.org/drawingml/2006/main">
            <a:pPr>
              <a:spcBef>
                <a:spcPct val="0"/>
              </a:spcBef>
              <a:buNone/>
            </a:pPr>
            <a:r>
              <a:t>Additional code detail: Picture Memory records difficulty updates, but its content generator currently ignores the level argument. Faces of Home uses a fixed five-round sequence. Do not claim every game changes its content difficulty after every answer.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CURRENT GAMEPLAY AND AI BOUNDARIES</a:t>
            </a:r>
            <a:endParaRPr/>
          </a:p>
          <a:p xmlns:a="http://schemas.openxmlformats.org/drawingml/2006/main">
            <a:pPr>
              <a:spcBef>
                <a:spcPct val="0"/>
              </a:spcBef>
              <a:buNone/>
            </a:pPr>
            <a:r>
              <a:t>Most scored games call nextLevel and recordAnswer in src/lib/adaptive.ts. A lightweight logistic ability model updates from correctness and sets the next round’s level. Local content generators create the actual rounds. Some games keep a fixed level during one session.</a:t>
            </a:r>
            <a:endParaRPr/>
          </a:p>
          <a:p xmlns:a="http://schemas.openxmlformats.org/drawingml/2006/main">
            <a:pPr>
              <a:spcBef>
                <a:spcPct val="0"/>
              </a:spcBef>
              <a:buNone/>
            </a:pPr>
            <a:r>
              <a:t>Home calls recommendNextGame in src/lib/ai.ts. It can request an online recommendation, with a local LinUCB policy as fallback. GameHost records completed sessions, and the local bandit updates from these outcomes.</a:t>
            </a:r>
            <a:endParaRPr/>
          </a:p>
          <a:p xmlns:a="http://schemas.openxmlformats.org/drawingml/2006/main">
            <a:pPr>
              <a:spcBef>
                <a:spcPct val="0"/>
              </a:spcBef>
              <a:buNone/>
            </a:pPr>
            <a:r>
              <a:t>The separate AdaptiveQuestionEngine implements 25-feature MLP plus LinUCB ranking and safeguards, but selectNextQuestion has no caller in the gameplay/content path. Its MLP weights are hand-set, not trained on a clinical dataset. The older answer bridge forwards a fixed 3500 ms latency and inferred hints. Further integration and instrumentation are required before presenting full question-level AI as operational.</a:t>
            </a:r>
            <a:endParaRPr/>
          </a:p>
          <a:p xmlns:a="http://schemas.openxmlformats.org/drawingml/2006/main">
            <a:pPr>
              <a:spcBef>
                <a:spcPct val="0"/>
              </a:spcBef>
              <a:buNone/>
            </a:pPr>
            <a:r>
              <a:t>A rule in the question engine favours easier eligible questions after repeated errors. That code does not mean all live games use that safeguard.</a:t>
            </a:r>
            <a:endParaRPr/>
          </a:p>
          <a:p xmlns:a="http://schemas.openxmlformats.org/drawingml/2006/main">
            <a:pPr>
              <a:spcBef>
                <a:spcPct val="0"/>
              </a:spcBef>
              <a:buNone/>
            </a:pPr>
            <a:r>
              <a:t>IndexedDB holds local records. Optional server proxy services support online chat and speech. Provider keys stay on the server. Offline speech depends on cached audio and available device voices. Production needs stronger access controls and backup.</a:t>
            </a:r>
            <a:endParaRPr/>
          </a:p>
          <a:p xmlns:a="http://schemas.openxmlformats.org/drawingml/2006/main">
            <a:pPr>
              <a:spcBef>
                <a:spcPct val="0"/>
              </a:spcBef>
              <a:buNone/>
            </a:pPr>
            <a:r>
              <a:t>Code evidence: src/lib/adaptive.ts, src/lib/content.ts, src/lib/adaptive/AdaptiveQuestionEngine.ts, src/lib/adaptive/MLInferenceEngine.ts, src/lib/ai.ts, src/lib/linucb.ts, src/screens/Home.tsx, src/games/GameHost.tsx, public/sw.js, server/ai-proxy.mjs.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refers to implementation visible in the repository, not a clinical trial or a claim of production readiness. No new live app verification was performed to prepare this deck.</a:t>
            </a:r>
            <a:endParaRPr/>
          </a:p>
          <a:p xmlns:a="http://schemas.openxmlformats.org/drawingml/2006/main">
            <a:pPr>
              <a:spcBef>
                <a:spcPct val="0"/>
              </a:spcBef>
              <a:buNone/>
            </a:pPr>
            <a:r>
              <a:t>Current limitations include device-local data, no remote caregiver authorisation or multi-device synchronisation, variable language/speech coverage, notification permissions and OS delivery restrictions. The application database is not encrypted. Proposed mitigations such as encrypted backup, authentication and sync require further implementation.</a:t>
            </a:r>
            <a:endParaRPr/>
          </a:p>
          <a:p xmlns:a="http://schemas.openxmlformats.org/drawingml/2006/main">
            <a:pPr>
              <a:spcBef>
                <a:spcPct val="0"/>
              </a:spcBef>
              <a:buNone/>
            </a:pPr>
            <a:r>
              <a:t>Pilot plan: native-speaker review, caregiver-assisted accessibility sessions on representative devices, and a clinician-supervised evaluation with an appropriate consent process. These are proposed activities with no claimed recruitment, partnership or results.</a:t>
            </a:r>
            <a:endParaRPr/>
          </a:p>
          <a:p xmlns:a="http://schemas.openxmlformats.org/drawingml/2006/main">
            <a:pPr>
              <a:spcBef>
                <a:spcPct val="0"/>
              </a:spcBef>
              <a:buNone/>
            </a:pPr>
            <a:r>
              <a:t>Code evidence: PRD.md sections 4, 6, 7 and 9; src/lib/voice/VoiceService.ts; src/lib/voice/SpeechToText.ts; src/lib/alarmService.ts; src/lib/db.ts; docs/AI_PROXY.md.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on this slide are intended outcomes to evaluate. We have no measured reduction in caregiver burden, improvement in medication adherence, cost saving or clinical efficacy for Smriti Sathi. Reminder acknowledgement is an interaction measure and does not prove a medicine was consumed.</a:t>
            </a:r>
            <a:endParaRPr/>
          </a:p>
          <a:p xmlns:a="http://schemas.openxmlformats.org/drawingml/2006/main">
            <a:pPr>
              <a:spcBef>
                <a:spcPct val="0"/>
              </a:spcBef>
              <a:buNone/>
            </a:pPr>
            <a:r>
              <a:t>Cochrane found modest short-term cognitive benefits across cognitive stimulation studies, mostly group programmes. Results cannot be transferred to this individual digital prototype.</a:t>
            </a:r>
            <a:endParaRPr/>
          </a:p>
          <a:p xmlns:a="http://schemas.openxmlformats.org/drawingml/2006/main">
            <a:pPr>
              <a:spcBef>
                <a:spcPct val="0"/>
              </a:spcBef>
              <a:buNone/>
            </a:pPr>
            <a:r>
              <a:t>References: Woods et al. (2023), https://doi.org/10.1002/14651858.CD005562.pub3 ; WHO caregiver information, https://www.who.int/news-room/questions-and-answers/item/dementia-information-for-caregivers .</a:t>
            </a:r>
            <a:endParaRPr/>
          </a:p>
          <a:p xmlns:a="http://schemas.openxmlformats.org/drawingml/2006/main">
            <a:pPr>
              <a:spcBef>
                <a:spcPct val="0"/>
              </a:spcBef>
              <a:buNone/>
            </a:pPr>
            <a:r>
              <a:t>Implementation evidence: src/components/caregiver/CaregiverAnalytics.tsx, src/lib/reports.ts, src/lib/reportExport.ts, src/lib/reminders.ts. Local report sharing is implemented. Full database backup is not.</a:t>
            </a:r>
            <a:endParaRPr/>
          </a:p>
          <a:p xmlns:a="http://schemas.openxmlformats.org/drawingml/2006/main">
            <a:pPr>
              <a:spcBef>
                <a:spcPct val="0"/>
              </a:spcBef>
              <a:buNone/>
            </a:pPr>
            <a:r>
              <a:t>Game-evaluation priorities: record real timing and explicit hint events, separate participation-only activities from scored tasks, and measure outcomes independently of app-generated scores. No study cited establishes that these regional themes improve outcomes in NER dementia patients.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SELECTED PAPERS: 11 SEPTEMBER 2021 TO 11 SEPTEMBER 2026</a:t>
            </a:r>
            <a:endParaRPr/>
          </a:p>
          <a:p xmlns:a="http://schemas.openxmlformats.org/drawingml/2006/main">
            <a:pPr>
              <a:spcBef>
                <a:spcPct val="0"/>
              </a:spcBef>
              <a:buNone/>
            </a:pPr>
            <a:r>
              <a:t/>
            </a:r>
            <a:endParaRPr/>
          </a:p>
          <a:p xmlns:a="http://schemas.openxmlformats.org/drawingml/2006/main">
            <a:pPr>
              <a:spcBef>
                <a:spcPct val="0"/>
              </a:spcBef>
              <a:buNone/>
            </a:pPr>
            <a:r>
              <a:t>[1] Chan ATC, Ip RTF, Tran JYS, Chan JYC, Tsoi KKF. Computerized cognitive training for memory functions in mild cognitive impairment or dementia: a systematic review and meta-analysis. npj Digital Medicine 7, 1 (2024). Published 3 January 2024. https://doi.org/10.1038/s41746-023-00987-5</a:t>
            </a:r>
            <a:endParaRPr/>
          </a:p>
          <a:p xmlns:a="http://schemas.openxmlformats.org/drawingml/2006/main">
            <a:pPr>
              <a:spcBef>
                <a:spcPct val="0"/>
              </a:spcBef>
              <a:buNone/>
            </a:pPr>
            <a:r>
              <a:t>Relevance: visual and working-memory task design in Orchid Pairs, Memory Tray and Picture Memory. The review included 1489 people with MCI and 371 with dementia. The dementia group showed a verbal-memory effect only, with low-certainty evidence. That effect lost statistical significance after excluding high-risk studies. It does not validate visual-memory improvement in dementia from these games. MCI findings cannot be treated as dementia results.</a:t>
            </a:r>
            <a:endParaRPr/>
          </a:p>
          <a:p xmlns:a="http://schemas.openxmlformats.org/drawingml/2006/main">
            <a:pPr>
              <a:spcBef>
                <a:spcPct val="0"/>
              </a:spcBef>
              <a:buNone/>
            </a:pPr>
            <a:r>
              <a:t/>
            </a:r>
            <a:endParaRPr/>
          </a:p>
          <a:p xmlns:a="http://schemas.openxmlformats.org/drawingml/2006/main">
            <a:pPr>
              <a:spcBef>
                <a:spcPct val="0"/>
              </a:spcBef>
              <a:buNone/>
            </a:pPr>
            <a:r>
              <a:t>[2] Woods B, Rai HK, Elliott E, Aguirre E, Orrell M, Spector A. Cognitive stimulation to improve cognitive functioning in people with dementia. Cochrane Database of Systematic Reviews 2023(1), CD005562. Published 31 January 2023. https://doi.org/10.1002/14651858.CD005562.pub3</a:t>
            </a:r>
            <a:endParaRPr/>
          </a:p>
          <a:p xmlns:a="http://schemas.openxmlformats.org/drawingml/2006/main">
            <a:pPr>
              <a:spcBef>
                <a:spcPct val="0"/>
              </a:spcBef>
              <a:buNone/>
            </a:pPr>
            <a:r>
              <a:t>Relevance: a varied programme of word, recognition, routine and conversation activities. The review included 37 trials and 2766 participants. It found modest short-term cognitive benefits, largely from group programmes. A self-guided digital game collection is a different delivery format. Clinical equivalence and app-specific efficacy remain unproven.</a:t>
            </a:r>
            <a:endParaRPr/>
          </a:p>
          <a:p xmlns:a="http://schemas.openxmlformats.org/drawingml/2006/main">
            <a:pPr>
              <a:spcBef>
                <a:spcPct val="0"/>
              </a:spcBef>
              <a:buNone/>
            </a:pPr>
            <a:r>
              <a:t/>
            </a:r>
            <a:endParaRPr/>
          </a:p>
          <a:p xmlns:a="http://schemas.openxmlformats.org/drawingml/2006/main">
            <a:pPr>
              <a:spcBef>
                <a:spcPct val="0"/>
              </a:spcBef>
              <a:buNone/>
            </a:pPr>
            <a:r>
              <a:t>[3] Elfrink TR, Ullrich C, Kunz M, Zuidema SU, Westerhof GJ. The Online Life Story Book trial of digital reminiscence in very mild/mild dementia and informal caregivers. PLOS ONE 16(9), e0256251 (2021). Published 15 September 2021. https://doi.org/10.1371/journal.pone.0256251</a:t>
            </a:r>
            <a:endParaRPr/>
          </a:p>
          <a:p xmlns:a="http://schemas.openxmlformats.org/drawingml/2006/main">
            <a:pPr>
              <a:spcBef>
                <a:spcPct val="0"/>
              </a:spcBef>
              <a:buNone/>
            </a:pPr>
            <a:r>
              <a:t>Relevance: personal memories and family participation in Festival Tales and photo-based engagement. In this 42-participant trial, most patient and caregiver outcomes did not show statistically significant effects. Self-rated caregiver distress improved during the intervention. The intervention used guided life-story creation, not a face-identification game. It supports examining this design approach, not a claim of proven benefit.</a:t>
            </a:r>
            <a:endParaRPr/>
          </a:p>
          <a:p xmlns:a="http://schemas.openxmlformats.org/drawingml/2006/main">
            <a:pPr>
              <a:spcBef>
                <a:spcPct val="0"/>
              </a:spcBef>
              <a:buNone/>
            </a:pPr>
            <a:r>
              <a:t/>
            </a:r>
            <a:endParaRPr/>
          </a:p>
          <a:p xmlns:a="http://schemas.openxmlformats.org/drawingml/2006/main">
            <a:pPr>
              <a:spcBef>
                <a:spcPct val="0"/>
              </a:spcBef>
              <a:buNone/>
            </a:pPr>
            <a:r>
              <a:t>Problem metadata: https://sih2026.vuce.in/ps/SIH26003 (community-maintained mirror, cross-checked against another public listing). Official SIH page was unavailable during research.</a:t>
            </a:r>
            <a:endParaRPr/>
          </a:p>
          <a:p xmlns:a="http://schemas.openxmlformats.org/drawingml/2006/main">
            <a:pPr>
              <a:spcBef>
                <a:spcPct val="0"/>
              </a:spcBef>
              <a:buNone/>
            </a:pPr>
            <a:r>
              <a:t>Presentation examples consulted for structure: SIH 2024 GreenSort AI, https://github.com/Aadiii00/SIH-Winners-PPt-and-Sources/blob/main/SIH_2024_AKY_GreenSort_AI.pdf ; SIH 2025 idea format, https://www.slideshare.net/slideshow/sih-hackathon-ppt-of-2025-india/283252951 . Winner status not independently established.</a:t>
            </a:r>
            <a:endParaRPr/>
          </a:p>
          <a:p xmlns:a="http://schemas.openxmlformats.org/drawingml/2006/main">
            <a:pPr>
              <a:spcBef>
                <a:spcPct val="0"/>
              </a:spcBef>
              <a:buNone/>
            </a:pPr>
            <a:r>
              <a:t>Research accessed 11 September 2026. Source citations support the statements noted, not the prototype as a whole.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0b8d9c2db743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bb4d4349ac40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d1ca7c63724c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5ed5f326334f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bcd1db7c4046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2c7e22901f403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96cfb5c58f2449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efd60b114c8427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c11b910a96c47f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147058a8d974cd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cf05858b4f34c1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18B56D-42C9-4773-AD59-E86F58CA9F6A}"/>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3A0B491-BC16-474C-91B6-000B28F55DAB}"/>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2E9B548-01FE-4914-9911-36F51EB05E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9/6/2026</a:t>
            </a:fld>
            <a:endParaRPr/>
          </a:p>
        </p:txBody>
      </p:sp>
      <p:sp>
        <p:nvSpPr>
          <p:cNvPr id="5" name="Footer Placeholder 4">
            <a:extLst xmlns:a="http://schemas.openxmlformats.org/drawingml/2006/main">
              <a:ext uri="{FF2B5EF4-FFF2-40B4-BE49-F238E27FC236}">
                <a16:creationId xmlns:a16="http://schemas.microsoft.com/office/drawing/2014/main" id="{C8B1928A-1AE7-44C5-A240-90FF4DE9050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4A7CCFE-CA92-4252-9802-673489F182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D72B65-F5CF-4A07-BF48-850302EE1B3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7E9E184-A71F-4A9D-8877-5BC1F6C05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764039C-00C4-4281-9B14-09330C57B4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9/6/2026</a:t>
            </a:fld>
            <a:endParaRPr/>
          </a:p>
        </p:txBody>
      </p:sp>
      <p:sp>
        <p:nvSpPr>
          <p:cNvPr id="5" name="Footer Placeholder 4">
            <a:extLst xmlns:a="http://schemas.openxmlformats.org/drawingml/2006/main">
              <a:ext uri="{FF2B5EF4-FFF2-40B4-BE49-F238E27FC236}">
                <a16:creationId xmlns:a16="http://schemas.microsoft.com/office/drawing/2014/main" id="{8C8588FB-6CCD-4F39-B737-D3C33A41B4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1B03328-C9A1-4952-9363-E02F7FD3D8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2F1045-7BDB-4F04-8ABB-747E0AF349DC}"/>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C5F8DDA-6181-4E3B-8707-4653EEE61528}"/>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46AB04A-3F4B-4977-8AA6-03912194CD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9/6/2026</a:t>
            </a:fld>
            <a:endParaRPr/>
          </a:p>
        </p:txBody>
      </p:sp>
      <p:sp>
        <p:nvSpPr>
          <p:cNvPr id="5" name="Footer Placeholder 4">
            <a:extLst xmlns:a="http://schemas.openxmlformats.org/drawingml/2006/main">
              <a:ext uri="{FF2B5EF4-FFF2-40B4-BE49-F238E27FC236}">
                <a16:creationId xmlns:a16="http://schemas.microsoft.com/office/drawing/2014/main" id="{FB945BAA-733F-4585-B081-D06C0EC2DE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FCFA274-7573-431B-89C1-1770E28924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9352C2-9A1D-4F6F-A0B0-21D54D1ABCA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E5CA21-7949-4099-9CCE-74E26CACF915}"/>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38103B3A-A9EF-49D8-AB60-FE949864397D}"/>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9156FD63-35C3-4F40-B842-51C7701357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9/6/2026</a:t>
            </a:fld>
            <a:endParaRPr/>
          </a:p>
        </p:txBody>
      </p:sp>
      <p:sp>
        <p:nvSpPr>
          <p:cNvPr id="6" name="Footer Placeholder 4">
            <a:extLst xmlns:a="http://schemas.openxmlformats.org/drawingml/2006/main">
              <a:ext uri="{FF2B5EF4-FFF2-40B4-BE49-F238E27FC236}">
                <a16:creationId xmlns:a16="http://schemas.microsoft.com/office/drawing/2014/main" id="{81189B75-4CD9-466A-8532-782B968276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A05356D4-E9C1-4A9E-8008-AF4817C5E0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CF4A33-712F-43E2-B8FB-7CEEF1E0CEB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6450487-1626-4894-8DD4-5EF39E2A9C3F}"/>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B8D1970-F23D-42E5-8CF8-C01E92293C6A}"/>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D69793E2-56B8-4E06-AB83-88B798A20843}"/>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0E37FEE-F175-4FEB-9FB4-65B3FAEF2DF8}"/>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8215042A-D18D-4C9A-AD55-3D6641DC4A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9/6/2026</a:t>
            </a:fld>
            <a:endParaRPr/>
          </a:p>
        </p:txBody>
      </p:sp>
      <p:sp>
        <p:nvSpPr>
          <p:cNvPr id="8" name="Footer Placeholder 4">
            <a:extLst xmlns:a="http://schemas.openxmlformats.org/drawingml/2006/main">
              <a:ext uri="{FF2B5EF4-FFF2-40B4-BE49-F238E27FC236}">
                <a16:creationId xmlns:a16="http://schemas.microsoft.com/office/drawing/2014/main" id="{B89362BA-D125-4830-A8C7-87FEE056CD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FA2742FE-5ECC-443F-B5C7-4B8AD2A6EC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E4F242-0466-4B98-A7AF-FD4FCAB83A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4A00B421-2AC7-4753-ADD8-F7F9748453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9/6/2026</a:t>
            </a:fld>
            <a:endParaRPr/>
          </a:p>
        </p:txBody>
      </p:sp>
      <p:sp>
        <p:nvSpPr>
          <p:cNvPr id="4" name="Footer Placeholder 4">
            <a:extLst xmlns:a="http://schemas.openxmlformats.org/drawingml/2006/main">
              <a:ext uri="{FF2B5EF4-FFF2-40B4-BE49-F238E27FC236}">
                <a16:creationId xmlns:a16="http://schemas.microsoft.com/office/drawing/2014/main" id="{C9CD9BB6-770C-4683-9C8F-CEA2992C89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6A4F3AA3-BDC9-4F09-96D3-C3AF56B3A2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C894B5DB-785A-4C33-A7C5-2616D3AE6D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9/6/2026</a:t>
            </a:fld>
            <a:endParaRPr/>
          </a:p>
        </p:txBody>
      </p:sp>
      <p:sp>
        <p:nvSpPr>
          <p:cNvPr id="3" name="Footer Placeholder 4">
            <a:extLst xmlns:a="http://schemas.openxmlformats.org/drawingml/2006/main">
              <a:ext uri="{FF2B5EF4-FFF2-40B4-BE49-F238E27FC236}">
                <a16:creationId xmlns:a16="http://schemas.microsoft.com/office/drawing/2014/main" id="{706DA21A-0036-4DC8-8199-826F7CDDF8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3401E4D6-48A7-482F-AD89-3A7FB02439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E0DDAD-DF2D-4B76-8AE0-52AE952A4A8E}"/>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CA3EDF-B753-4374-8631-5DFBAB947EC4}"/>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759E88C6-1A72-4E2B-BD5A-AD2A9527B9ED}"/>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89E56D5-4D6F-4E80-95BA-D8B008923D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9/6/2026</a:t>
            </a:fld>
            <a:endParaRPr/>
          </a:p>
        </p:txBody>
      </p:sp>
      <p:sp>
        <p:nvSpPr>
          <p:cNvPr id="6" name="Footer Placeholder 4">
            <a:extLst xmlns:a="http://schemas.openxmlformats.org/drawingml/2006/main">
              <a:ext uri="{FF2B5EF4-FFF2-40B4-BE49-F238E27FC236}">
                <a16:creationId xmlns:a16="http://schemas.microsoft.com/office/drawing/2014/main" id="{0EC5B2E7-5200-4779-BB5C-C7B2C450FA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A4918A53-84FE-4207-BD81-6EFB3D6371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1582A1-9D4F-40C8-A30F-3FF8A4564AE0}"/>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07E296F-5854-4F05-B4C7-F1D7EB671E61}"/>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03218E56-158C-46AB-A48D-E0FE1E8BF96F}"/>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4E7945B-892C-47CD-9D51-1A637614A9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9/6/2026</a:t>
            </a:fld>
            <a:endParaRPr/>
          </a:p>
        </p:txBody>
      </p:sp>
      <p:sp>
        <p:nvSpPr>
          <p:cNvPr id="6" name="Footer Placeholder 4">
            <a:extLst xmlns:a="http://schemas.openxmlformats.org/drawingml/2006/main">
              <a:ext uri="{FF2B5EF4-FFF2-40B4-BE49-F238E27FC236}">
                <a16:creationId xmlns:a16="http://schemas.microsoft.com/office/drawing/2014/main" id="{0146C085-F9A0-4CFE-BB62-40CB974CB8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6CA0011D-A91A-477E-B4D8-3FE3EAD6DD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6E5796-4E88-4DA9-80D1-A256A84AC0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31DD754-C437-4223-A9B4-C038AF2923F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511C133-C8FB-4257-A376-D9A8733ACD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9/6/2026</a:t>
            </a:fld>
            <a:endParaRPr/>
          </a:p>
        </p:txBody>
      </p:sp>
      <p:sp>
        <p:nvSpPr>
          <p:cNvPr id="5" name="Footer Placeholder 4">
            <a:extLst xmlns:a="http://schemas.openxmlformats.org/drawingml/2006/main">
              <a:ext uri="{FF2B5EF4-FFF2-40B4-BE49-F238E27FC236}">
                <a16:creationId xmlns:a16="http://schemas.microsoft.com/office/drawing/2014/main" id="{55A86083-74CE-4740-B704-CA4C7022BD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0324CC2-E45F-4648-B43A-F3BFB655D1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1C3B85F-F4A8-4CDC-A4EF-769B934501E5}"/>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C837945-7595-43F0-8640-6F8DE4AC21B0}"/>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AC0D204-14C6-4B2E-ABE4-04F822DF69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9/6/2026</a:t>
            </a:fld>
            <a:endParaRPr/>
          </a:p>
        </p:txBody>
      </p:sp>
      <p:sp>
        <p:nvSpPr>
          <p:cNvPr id="5" name="Footer Placeholder 4">
            <a:extLst xmlns:a="http://schemas.openxmlformats.org/drawingml/2006/main">
              <a:ext uri="{FF2B5EF4-FFF2-40B4-BE49-F238E27FC236}">
                <a16:creationId xmlns:a16="http://schemas.microsoft.com/office/drawing/2014/main" id="{17E48E36-A8E7-43AF-BBF2-DA2FDA8A05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9A5C5B0-E29B-4DEC-AF9C-26F7330A6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c09a49d96e4fcc" /><Relationship Type="http://schemas.openxmlformats.org/officeDocument/2006/relationships/slideLayout" Target="/ppt/slideLayouts/slideLayout1.xml" Id="Rc58bd15b79544b62" /><Relationship Type="http://schemas.openxmlformats.org/officeDocument/2006/relationships/slideLayout" Target="/ppt/slideLayouts/slideLayout2.xml" Id="R12f2cd42b6e949c1" /><Relationship Type="http://schemas.openxmlformats.org/officeDocument/2006/relationships/slideLayout" Target="/ppt/slideLayouts/slideLayout3.xml" Id="Rb0ac5707b4634ad5" /><Relationship Type="http://schemas.openxmlformats.org/officeDocument/2006/relationships/slideLayout" Target="/ppt/slideLayouts/slideLayout4.xml" Id="Rf90ea0261c5947a4" /><Relationship Type="http://schemas.openxmlformats.org/officeDocument/2006/relationships/slideLayout" Target="/ppt/slideLayouts/slideLayout5.xml" Id="R09ab8d1906164c75" /><Relationship Type="http://schemas.openxmlformats.org/officeDocument/2006/relationships/slideLayout" Target="/ppt/slideLayouts/slideLayout6.xml" Id="Rd80639bf36d54052" /><Relationship Type="http://schemas.openxmlformats.org/officeDocument/2006/relationships/slideLayout" Target="/ppt/slideLayouts/slideLayout7.xml" Id="Rda96887ab9694672" /><Relationship Type="http://schemas.openxmlformats.org/officeDocument/2006/relationships/slideLayout" Target="/ppt/slideLayouts/slideLayout8.xml" Id="R46938900089b4b13" /><Relationship Type="http://schemas.openxmlformats.org/officeDocument/2006/relationships/slideLayout" Target="/ppt/slideLayouts/slideLayout9.xml" Id="R08b0a1a3efb74127" /><Relationship Type="http://schemas.openxmlformats.org/officeDocument/2006/relationships/slideLayout" Target="/ppt/slideLayouts/slideLayout10.xml" Id="Ra33ba83c3761409c" /><Relationship Type="http://schemas.openxmlformats.org/officeDocument/2006/relationships/slideLayout" Target="/ppt/slideLayouts/slideLayout11.xml" Id="R4cfee71e1c07415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DB1EFAD2-FF09-4E1B-8B50-26239E889FD9}"/>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04CA8F29-8722-459A-AD52-9DCC841CCFAB}"/>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F081206-1B54-4E5A-8B46-C7203315AA29}"/>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9/6/2026</a:t>
            </a:fld>
            <a:endParaRPr/>
          </a:p>
        </p:txBody>
      </p:sp>
      <p:sp>
        <p:nvSpPr>
          <p:cNvPr id="5" name="Footer Placeholder 4">
            <a:extLst xmlns:a="http://schemas.openxmlformats.org/drawingml/2006/main">
              <a:ext uri="{FF2B5EF4-FFF2-40B4-BE49-F238E27FC236}">
                <a16:creationId xmlns:a16="http://schemas.microsoft.com/office/drawing/2014/main" id="{0C8FD67E-DB52-4D34-9B00-0E212F889A83}"/>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8D16CF2-3C74-41AF-8824-B4F789CD5B76}"/>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8bd15b79544b62"/>
    <p:sldLayoutId xmlns:r="http://schemas.openxmlformats.org/officeDocument/2006/relationships" id="2147483650" r:id="R12f2cd42b6e949c1"/>
    <p:sldLayoutId xmlns:r="http://schemas.openxmlformats.org/officeDocument/2006/relationships" id="2147483651" r:id="Rb0ac5707b4634ad5"/>
    <p:sldLayoutId xmlns:r="http://schemas.openxmlformats.org/officeDocument/2006/relationships" id="2147483652" r:id="Rf90ea0261c5947a4"/>
    <p:sldLayoutId xmlns:r="http://schemas.openxmlformats.org/officeDocument/2006/relationships" id="2147483653" r:id="R09ab8d1906164c75"/>
    <p:sldLayoutId xmlns:r="http://schemas.openxmlformats.org/officeDocument/2006/relationships" id="2147483654" r:id="Rd80639bf36d54052"/>
    <p:sldLayoutId xmlns:r="http://schemas.openxmlformats.org/officeDocument/2006/relationships" id="2147483655" r:id="Rda96887ab9694672"/>
    <p:sldLayoutId xmlns:r="http://schemas.openxmlformats.org/officeDocument/2006/relationships" id="2147483656" r:id="R46938900089b4b13"/>
    <p:sldLayoutId xmlns:r="http://schemas.openxmlformats.org/officeDocument/2006/relationships" id="2147483657" r:id="R08b0a1a3efb74127"/>
    <p:sldLayoutId xmlns:r="http://schemas.openxmlformats.org/officeDocument/2006/relationships" id="2147483658" r:id="Ra33ba83c3761409c"/>
    <p:sldLayoutId xmlns:r="http://schemas.openxmlformats.org/officeDocument/2006/relationships" id="2147483659" r:id="R4cfee71e1c07415a"/>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72d7da21a148c6" /><Relationship Type="http://schemas.openxmlformats.org/officeDocument/2006/relationships/image" Target="/ppt/media/image.png" Id="R7adc8cb521df4fd6" /><Relationship Type="http://schemas.openxmlformats.org/officeDocument/2006/relationships/image" Target="/ppt/media/image2.png" Id="R79408b87bd104990" /><Relationship Type="http://schemas.openxmlformats.org/officeDocument/2006/relationships/notesSlide" Target="/ppt/notesSlides/notesSlide1.xml" Id="R2961eb204c6a48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dc9ec4e8e6d4eed" /><Relationship Type="http://schemas.openxmlformats.org/officeDocument/2006/relationships/image" Target="/ppt/media/image2.png" Id="R8159e86480f44c0f" /><Relationship Type="http://schemas.openxmlformats.org/officeDocument/2006/relationships/notesSlide" Target="/ppt/notesSlides/notesSlide2.xml" Id="R5154779febb042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19e59b3afc14430" /><Relationship Type="http://schemas.openxmlformats.org/officeDocument/2006/relationships/image" Target="/ppt/media/image2.png" Id="R338a799077ea4699" /><Relationship Type="http://schemas.openxmlformats.org/officeDocument/2006/relationships/notesSlide" Target="/ppt/notesSlides/notesSlide3.xml" Id="R4f14f9ab42e645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c2b1e0b7cc24611" /><Relationship Type="http://schemas.openxmlformats.org/officeDocument/2006/relationships/image" Target="/ppt/media/image2.png" Id="R8e8a579c5d1c418e" /><Relationship Type="http://schemas.openxmlformats.org/officeDocument/2006/relationships/notesSlide" Target="/ppt/notesSlides/notesSlide4.xml" Id="R48de49d6a6fb46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b22af206a70422e" /><Relationship Type="http://schemas.openxmlformats.org/officeDocument/2006/relationships/image" Target="/ppt/media/image2.png" Id="R849da7e2cd58436a" /><Relationship Type="http://schemas.openxmlformats.org/officeDocument/2006/relationships/notesSlide" Target="/ppt/notesSlides/notesSlide5.xml" Id="R31e3ba29c6ed40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950a1f4082d4d58" /><Relationship Type="http://schemas.openxmlformats.org/officeDocument/2006/relationships/hyperlink" Target="https://doi.org/10.1038/s41746-023-00987-5" TargetMode="External" Id="Ra0fa77ac934046b0" /><Relationship Type="http://schemas.openxmlformats.org/officeDocument/2006/relationships/hyperlink" Target="https://doi.org/10.1002/14651858.CD005562.pub3" TargetMode="External" Id="R1b735d2b9b7e48e6" /><Relationship Type="http://schemas.openxmlformats.org/officeDocument/2006/relationships/hyperlink" Target="https://doi.org/10.1371/journal.pone.0256251" TargetMode="External" Id="Rbab624669fd94641" /><Relationship Type="http://schemas.openxmlformats.org/officeDocument/2006/relationships/image" Target="/ppt/media/image2.png" Id="Rbb0aa5ca75a642d4" /><Relationship Type="http://schemas.openxmlformats.org/officeDocument/2006/relationships/notesSlide" Target="/ppt/notesSlides/notesSlide6.xml" Id="R041b2e9d848e41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eaf5d4c892142a3" /><Relationship Type="http://schemas.openxmlformats.org/officeDocument/2006/relationships/image" Target="/ppt/media/image2.png" Id="R78cec1a2b9494b7c" /><Relationship Type="http://schemas.openxmlformats.org/officeDocument/2006/relationships/notesSlide" Target="/ppt/notesSlides/notesSlide7.xml" Id="Rbdc7df6ca1224f58"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2"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7adc8cb521df4fd6"/>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82C97131-B2F4-4BDD-9204-FAF0595D5BE9}"/>
              </a:ext>
            </a:extLst>
          </p:cNvPr>
          <p:cNvSpPr>
            <a:spLocks xmlns:a="http://schemas.openxmlformats.org/drawingml/2006/main" noGrp="1"/>
          </p:cNvSpPr>
          <p:nvPr>
            <p:ph type="subTitle" idx="1"/>
          </p:nvPr>
        </p:nvSpPr>
        <p:spPr>
          <a:xfrm xmlns:a="http://schemas.openxmlformats.org/drawingml/2006/main">
            <a:off x="1245686" y="648614"/>
            <a:ext cx="8534400" cy="1752600"/>
          </a:xfrm>
        </p:spPr>
        <p:txBody>
          <a:bodyPr xmlns:a="http://schemas.openxmlformats.org/drawingml/2006/main"/>
          <a:lstStyle xmlns:a="http://schemas.openxmlformats.org/drawingml/2006/main"/>
          <a:p xmlns:a="http://schemas.openxmlformats.org/drawingml/2006/main">
            <a:endParaRPr b="1">
              <a:solidFill>
                <a:schemeClr val="tx1"/>
              </a:solidFill>
              <a:latin typeface="Times New Roman"/>
              <a:ea typeface="Times New Roman"/>
              <a:cs typeface="Times New Roman"/>
            </a:endParaRPr>
          </a:p>
          <a:p xmlns:a="http://schemas.openxmlformats.org/drawingml/2006/main">
            <a:r>
              <a:rPr b="1">
                <a:solidFill>
                  <a:schemeClr val="tx1"/>
                </a:solidFill>
                <a:latin typeface="Times New Roman"/>
                <a:ea typeface="Times New Roman"/>
                <a:cs typeface="Times New Roman"/>
              </a:rPr>
              <a:t>SMRITI SATHI</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0CD2DD5E-6718-4CE8-97D9-D2C51B5BC166}"/>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A960CDBC-C953-4C36-9696-36C6A2D80741}"/>
              </a:ext>
            </a:extLst>
          </p:cNvPr>
          <p:cNvSpPr>
            <a:spLocks xmlns:a="http://schemas.openxmlformats.org/drawingml/2006/main" noGrp="1"/>
          </p:cNvSpPr>
          <p:nvPr/>
        </p:nvSpPr>
        <p:spPr>
          <a:xfrm xmlns:a="http://schemas.openxmlformats.org/drawingml/2006/main">
            <a:off x="419100" y="2333625"/>
            <a:ext cx="6048375" cy="43243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Problem Statement ID: </a:t>
            </a:r>
            <a:r>
              <a:rPr sz="2400">
                <a:solidFill>
                  <a:srgbClr val="000000"/>
                </a:solidFill>
                <a:latin typeface="Arial"/>
                <a:ea typeface="Arial"/>
                <a:cs typeface="Arial"/>
              </a:rPr>
              <a:t>SIH26003</a:t>
            </a:r>
          </a:p>
          <a:p xmlns:a="http://schemas.openxmlformats.org/drawingml/2006/main">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Problem Statement Title:</a:t>
            </a:r>
            <a:r>
              <a:rPr sz="2400">
                <a:solidFill>
                  <a:srgbClr val="000000"/>
                </a:solidFill>
                <a:latin typeface="Arial"/>
                <a:ea typeface="Arial"/>
                <a:cs typeface="Arial"/>
              </a:rPr>
              <a:t>
AI-Based Cognitive Gaming and Memory Assistance Platform for Elderly Dementia Patients in North Eastern Region (NER)</a:t>
            </a:r>
          </a:p>
          <a:p xmlns:a="http://schemas.openxmlformats.org/drawingml/2006/main">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Theme: </a:t>
            </a:r>
            <a:r>
              <a:rPr sz="2400">
                <a:solidFill>
                  <a:srgbClr val="000000"/>
                </a:solidFill>
                <a:latin typeface="Arial"/>
                <a:ea typeface="Arial"/>
                <a:cs typeface="Arial"/>
              </a:rPr>
              <a:t>MedTech / BioTech / HealthTech</a:t>
            </a:r>
          </a:p>
          <a:p xmlns:a="http://schemas.openxmlformats.org/drawingml/2006/main">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PS Category: </a:t>
            </a:r>
            <a:r>
              <a:rPr sz="2400">
                <a:solidFill>
                  <a:srgbClr val="000000"/>
                </a:solidFill>
                <a:latin typeface="Arial"/>
                <a:ea typeface="Arial"/>
                <a:cs typeface="Arial"/>
              </a:rPr>
              <a:t>Software</a:t>
            </a:r>
          </a:p>
          <a:p xmlns:a="http://schemas.openxmlformats.org/drawingml/2006/main">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Team ID: </a:t>
            </a:r>
            <a:r>
              <a:rPr sz="2400">
                <a:solidFill>
                  <a:srgbClr val="000000"/>
                </a:solidFill>
                <a:latin typeface="Arial"/>
                <a:ea typeface="Arial"/>
                <a:cs typeface="Arial"/>
              </a:rPr>
              <a:t>[Enter registered ID]</a:t>
            </a:r>
          </a:p>
          <a:p xmlns:a="http://schemas.openxmlformats.org/drawingml/2006/main">
            <a:pPr algn="l">
              <a:spcAft>
                <a:spcPts val="1100"/>
              </a:spcAft>
              <a:defRPr sz="2400">
                <a:solidFill>
                  <a:srgbClr val="000000"/>
                </a:solidFill>
                <a:latin typeface="Arial"/>
                <a:ea typeface="Arial"/>
                <a:cs typeface="Arial"/>
              </a:defRPr>
            </a:pPr>
            <a:r>
              <a:rPr sz="2400" b="1">
                <a:solidFill>
                  <a:srgbClr val="204D82"/>
                </a:solidFill>
                <a:latin typeface="Arial"/>
                <a:ea typeface="Arial"/>
                <a:cs typeface="Arial"/>
              </a:rPr>
              <a:t>Team Name: </a:t>
            </a:r>
            <a:r>
              <a:rPr sz="2400">
                <a:solidFill>
                  <a:srgbClr val="000000"/>
                </a:solidFill>
                <a:latin typeface="Arial"/>
                <a:ea typeface="Arial"/>
                <a:cs typeface="Arial"/>
              </a:rPr>
              <a:t>Team Vincera</a:t>
            </a:r>
          </a:p>
        </p:txBody>
      </p:sp>
      <p:pic>
        <p:nvPicPr>
          <p:cNvPr id="46" name="Picture 1"/>
          <p:cNvPicPr>
            <a:picLocks xmlns:a="http://schemas.openxmlformats.org/drawingml/2006/main" noChangeAspect="1"/>
          </p:cNvPicPr>
          <p:nvPr/>
        </p:nvPicPr>
        <p:blipFill>
          <a:blip xmlns:r="http://schemas.openxmlformats.org/officeDocument/2006/relationships" xmlns:a="http://schemas.openxmlformats.org/drawingml/2006/main" r:embed="R79408b87bd104990"/>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13102368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3E5FF2CF-442E-4D35-B28E-5FD3DEAB9499}"/>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C4283018-F826-4365-80DF-02E99F5AF085}"/>
              </a:ext>
            </a:extLst>
          </p:cNvPr>
          <p:cNvSpPr>
            <a:spLocks xmlns:a="http://schemas.openxmlformats.org/drawingml/2006/main" noGrp="1"/>
          </p:cNvSpPr>
          <p:nvPr>
            <p:ph type="title" idx="0"/>
          </p:nvPr>
        </p:nvSpPr>
        <p:spPr>
          <a:xfrm xmlns:a="http://schemas.openxmlformats.org/drawingml/2006/main">
            <a:off x="182998" y="0"/>
            <a:ext cx="10972800" cy="1143000"/>
          </a:xfrm>
        </p:spPr>
        <p:txBody>
          <a:bodyPr xmlns:a="http://schemas.openxmlformats.org/drawingml/2006/main"/>
          <a:lstStyle xmlns:a="http://schemas.openxmlformats.org/drawingml/2006/main"/>
          <a:p xmlns:a="http://schemas.openxmlformats.org/drawingml/2006/main">
            <a:pPr>
              <a:buNone/>
            </a:pPr>
            <a:br/>
            <a:r>
              <a:rPr sz="3600" b="1">
                <a:latin typeface="Times New Roman"/>
                <a:ea typeface="Times New Roman"/>
                <a:cs typeface="Times New Roman"/>
              </a:rPr>
              <a:t>SMRITI SATHI</a:t>
            </a:r>
          </a:p>
        </p:txBody>
      </p:sp>
      <p:sp>
        <p:nvSpPr>
          <p:cNvPr id="15362" name="TextBox 8">
            <a:extLst xmlns:a="http://schemas.openxmlformats.org/drawingml/2006/main">
              <a:ext uri="{FF2B5EF4-FFF2-40B4-BE49-F238E27FC236}">
                <a16:creationId xmlns:a16="http://schemas.microsoft.com/office/drawing/2014/main" id="{055FEAC5-511F-4AC1-9E2A-764B5C6BDDDA}"/>
              </a:ext>
            </a:extLst>
          </p:cNvPr>
          <p:cNvSpPr>
            <a:spLocks xmlns:a="http://schemas.openxmlformats.org/drawingml/2006/main" noGrp="1"/>
          </p:cNvSpPr>
          <p:nvPr/>
        </p:nvSpPr>
        <p:spPr>
          <a:xfrm xmlns:a="http://schemas.openxmlformats.org/drawingml/2006/main">
            <a:off x="609600" y="1571625"/>
            <a:ext cx="10972800" cy="455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Proposed Solution: games and daily memory assistance</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23 games. </a:t>
            </a:r>
            <a:r>
              <a:rPr sz="2800">
                <a:solidFill>
                  <a:srgbClr val="000000"/>
                </a:solidFill>
                <a:latin typeface="Arial"/>
                <a:ea typeface="Arial"/>
                <a:cs typeface="Arial"/>
              </a:rPr>
              <a:t>Orchid Pairs matches hidden cards. Memory Tray asks which item disappeared after a 10-second view. [1]</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Familiar daily life. </a:t>
            </a:r>
            <a:r>
              <a:rPr sz="2800">
                <a:solidFill>
                  <a:srgbClr val="000000"/>
                </a:solidFill>
                <a:latin typeface="Arial"/>
                <a:ea typeface="Arial"/>
                <a:cs typeface="Arial"/>
              </a:rPr>
              <a:t>Order routines in Daily Life Sequence. Recognise regional foods. Share memories through Festival Tales. [2, 3]</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Problem fit. </a:t>
            </a:r>
            <a:r>
              <a:rPr sz="2800">
                <a:solidFill>
                  <a:srgbClr val="000000"/>
                </a:solidFill>
                <a:latin typeface="Arial"/>
                <a:ea typeface="Arial"/>
                <a:cs typeface="Arial"/>
              </a:rPr>
              <a:t>Six language choices, large controls, offline activities, medicine/routine reminders and a local caregiver view.</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Innovation. </a:t>
            </a:r>
            <a:r>
              <a:rPr sz="2800">
                <a:solidFill>
                  <a:srgbClr val="000000"/>
                </a:solidFill>
                <a:latin typeface="Arial"/>
                <a:ea typeface="Arial"/>
                <a:cs typeface="Arial"/>
              </a:rPr>
              <a:t>Regional content and gentle cues combine with difficulty that responds to answers.</a:t>
            </a:r>
          </a:p>
        </p:txBody>
      </p:sp>
      <p:sp>
        <p:nvSpPr>
          <p:cNvPr id="6" name="Slide Number Placeholder 5">
            <a:extLst xmlns:a="http://schemas.openxmlformats.org/drawingml/2006/main">
              <a:ext uri="{FF2B5EF4-FFF2-40B4-BE49-F238E27FC236}">
                <a16:creationId xmlns:a16="http://schemas.microsoft.com/office/drawing/2014/main" id="{66340DDB-95DF-4D23-989B-15557E4AA8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895A9FAE-F9EC-4E3C-A260-1A5CD126796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5370" name="Picture 10"/>
          <p:cNvPicPr>
            <a:picLocks xmlns:a="http://schemas.openxmlformats.org/drawingml/2006/main" noChangeAspect="1"/>
          </p:cNvPicPr>
          <p:nvPr/>
        </p:nvPicPr>
        <p:blipFill>
          <a:blip xmlns:r="http://schemas.openxmlformats.org/officeDocument/2006/relationships" xmlns:a="http://schemas.openxmlformats.org/drawingml/2006/main" r:embed="R8159e86480f44c0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3649047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E2C18D8B-27CE-4C79-BE76-FB601EFF4C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TECHNICAL APPROACH</a:t>
            </a:r>
          </a:p>
        </p:txBody>
      </p:sp>
      <p:sp>
        <p:nvSpPr>
          <p:cNvPr id="17410" name="TextBox 8">
            <a:extLst xmlns:a="http://schemas.openxmlformats.org/drawingml/2006/main">
              <a:ext uri="{FF2B5EF4-FFF2-40B4-BE49-F238E27FC236}">
                <a16:creationId xmlns:a16="http://schemas.microsoft.com/office/drawing/2014/main" id="{CB27499D-3B0F-47B8-B474-ACE5449ECB41}"/>
              </a:ext>
            </a:extLst>
          </p:cNvPr>
          <p:cNvSpPr>
            <a:spLocks xmlns:a="http://schemas.openxmlformats.org/drawingml/2006/main" noGrp="1"/>
          </p:cNvSpPr>
          <p:nvPr/>
        </p:nvSpPr>
        <p:spPr>
          <a:xfrm xmlns:a="http://schemas.openxmlformats.org/drawingml/2006/main">
            <a:off x="609600" y="1571625"/>
            <a:ext cx="10972800" cy="455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Technologies. </a:t>
            </a:r>
            <a:r>
              <a:rPr sz="2800">
                <a:solidFill>
                  <a:srgbClr val="000000"/>
                </a:solidFill>
                <a:latin typeface="Arial"/>
                <a:ea typeface="Arial"/>
                <a:cs typeface="Arial"/>
              </a:rPr>
              <a:t>React, TypeScript, Vite and Capacitor. IndexedDB stores local data. A service worker caches core assets.</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Current game loop. </a:t>
            </a:r>
            <a:r>
              <a:rPr sz="2800">
                <a:solidFill>
                  <a:srgbClr val="000000"/>
                </a:solidFill>
                <a:latin typeface="Arial"/>
                <a:ea typeface="Arial"/>
                <a:cs typeface="Arial"/>
              </a:rPr>
              <a:t>Choose local content, record an answer, update domain ability, then set the next round’s difficulty.</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AI personalisation. </a:t>
            </a:r>
            <a:r>
              <a:rPr sz="2800">
                <a:solidFill>
                  <a:srgbClr val="000000"/>
                </a:solidFill>
                <a:latin typeface="Arial"/>
                <a:ea typeface="Arial"/>
                <a:cs typeface="Arial"/>
              </a:rPr>
              <a:t>Local LinUCB recommends the next game. The separate 25-feature neural question engine still needs gameplay integration.</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Optional online services. </a:t>
            </a:r>
            <a:r>
              <a:rPr sz="2800">
                <a:solidFill>
                  <a:srgbClr val="000000"/>
                </a:solidFill>
                <a:latin typeface="Arial"/>
                <a:ea typeface="Arial"/>
                <a:cs typeface="Arial"/>
              </a:rPr>
              <a:t>A server proxy connects chat and speech providers. Core play continues offline.</a:t>
            </a:r>
          </a:p>
        </p:txBody>
      </p:sp>
      <p:sp>
        <p:nvSpPr>
          <p:cNvPr id="6" name="Slide Number Placeholder 5">
            <a:extLst xmlns:a="http://schemas.openxmlformats.org/drawingml/2006/main">
              <a:ext uri="{FF2B5EF4-FFF2-40B4-BE49-F238E27FC236}">
                <a16:creationId xmlns:a16="http://schemas.microsoft.com/office/drawing/2014/main" id="{2D67FAF4-7D7B-4491-868F-FF355B096C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48C440B1-E1F6-45CD-9CAD-38EE1CE6FF7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7418" name="Picture 11"/>
          <p:cNvPicPr>
            <a:picLocks xmlns:a="http://schemas.openxmlformats.org/drawingml/2006/main" noChangeAspect="1"/>
          </p:cNvPicPr>
          <p:nvPr/>
        </p:nvPicPr>
        <p:blipFill>
          <a:blip xmlns:r="http://schemas.openxmlformats.org/officeDocument/2006/relationships" xmlns:a="http://schemas.openxmlformats.org/drawingml/2006/main" r:embed="R338a799077ea4699"/>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51434765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C3FD694-26C4-4C62-9FD1-F2F9E8FAD0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FEASIBILITY AND VIABILITY</a:t>
            </a:r>
          </a:p>
        </p:txBody>
      </p:sp>
      <p:sp>
        <p:nvSpPr>
          <p:cNvPr id="17410" name="TextBox 8">
            <a:extLst xmlns:a="http://schemas.openxmlformats.org/drawingml/2006/main">
              <a:ext uri="{FF2B5EF4-FFF2-40B4-BE49-F238E27FC236}">
                <a16:creationId xmlns:a16="http://schemas.microsoft.com/office/drawing/2014/main" id="{75F90C71-7BA6-41F8-9464-01A46B828634}"/>
              </a:ext>
            </a:extLst>
          </p:cNvPr>
          <p:cNvSpPr>
            <a:spLocks xmlns:a="http://schemas.openxmlformats.org/drawingml/2006/main" noGrp="1"/>
          </p:cNvSpPr>
          <p:nvPr/>
        </p:nvSpPr>
        <p:spPr>
          <a:xfrm xmlns:a="http://schemas.openxmlformats.org/drawingml/2006/main">
            <a:off x="609600" y="1695450"/>
            <a:ext cx="10972800" cy="43148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Feasibility. </a:t>
            </a:r>
            <a:r>
              <a:rPr sz="2800">
                <a:solidFill>
                  <a:srgbClr val="000000"/>
                </a:solidFill>
                <a:latin typeface="Arial"/>
                <a:ea typeface="Arial"/>
                <a:cs typeface="Arial"/>
              </a:rPr>
              <a:t>Games, local adaptation, reminders and caregiver views run on standard mobile/tablet hardware.</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Challenges and risks. </a:t>
            </a:r>
            <a:r>
              <a:rPr sz="2800">
                <a:solidFill>
                  <a:srgbClr val="000000"/>
                </a:solidFill>
                <a:latin typeface="Arial"/>
                <a:ea typeface="Arial"/>
                <a:cs typeface="Arial"/>
              </a:rPr>
              <a:t>Speech support varies by language. Notifications need permissions. Clearing app data can erase local records.</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Strategies. </a:t>
            </a:r>
            <a:r>
              <a:rPr sz="2800">
                <a:solidFill>
                  <a:srgbClr val="000000"/>
                </a:solidFill>
                <a:latin typeface="Arial"/>
                <a:ea typeface="Arial"/>
                <a:cs typeface="Arial"/>
              </a:rPr>
              <a:t>Use cached audio and text fallbacks. Check permissions. Add encrypted backup, authentication and sync before wider deployment.</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Next validation. </a:t>
            </a:r>
            <a:r>
              <a:rPr sz="2800">
                <a:solidFill>
                  <a:srgbClr val="000000"/>
                </a:solidFill>
                <a:latin typeface="Arial"/>
                <a:ea typeface="Arial"/>
                <a:cs typeface="Arial"/>
              </a:rPr>
              <a:t>Native-speaker review, accessibility sessions with older adults, then a clinician-supervised pilot.</a:t>
            </a:r>
          </a:p>
        </p:txBody>
      </p:sp>
      <p:sp>
        <p:nvSpPr>
          <p:cNvPr id="6" name="Slide Number Placeholder 5">
            <a:extLst xmlns:a="http://schemas.openxmlformats.org/drawingml/2006/main">
              <a:ext uri="{FF2B5EF4-FFF2-40B4-BE49-F238E27FC236}">
                <a16:creationId xmlns:a16="http://schemas.microsoft.com/office/drawing/2014/main" id="{C66E81EA-348C-47D1-BEC4-C7EDB2FDA5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0767BD29-25D8-4F61-90B1-FCE27FB8919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7418" name="Picture 10"/>
          <p:cNvPicPr>
            <a:picLocks xmlns:a="http://schemas.openxmlformats.org/drawingml/2006/main" noChangeAspect="1"/>
          </p:cNvPicPr>
          <p:nvPr/>
        </p:nvPicPr>
        <p:blipFill>
          <a:blip xmlns:r="http://schemas.openxmlformats.org/officeDocument/2006/relationships" xmlns:a="http://schemas.openxmlformats.org/drawingml/2006/main" r:embed="R8e8a579c5d1c418e"/>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974D5D7-9AF8-4427-AFB9-648040243F4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IMPACT AND BENEFITS</a:t>
            </a:r>
          </a:p>
        </p:txBody>
      </p:sp>
      <p:sp>
        <p:nvSpPr>
          <p:cNvPr id="17410" name="TextBox 8">
            <a:extLst xmlns:a="http://schemas.openxmlformats.org/drawingml/2006/main">
              <a:ext uri="{FF2B5EF4-FFF2-40B4-BE49-F238E27FC236}">
                <a16:creationId xmlns:a16="http://schemas.microsoft.com/office/drawing/2014/main" id="{B3393F9B-EF50-4FE7-99B6-17AA03862787}"/>
              </a:ext>
            </a:extLst>
          </p:cNvPr>
          <p:cNvSpPr>
            <a:spLocks xmlns:a="http://schemas.openxmlformats.org/drawingml/2006/main" noGrp="1"/>
          </p:cNvSpPr>
          <p:nvPr/>
        </p:nvSpPr>
        <p:spPr>
          <a:xfrm xmlns:a="http://schemas.openxmlformats.org/drawingml/2006/main">
            <a:off x="609600" y="1695450"/>
            <a:ext cx="10972800" cy="43148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older adults. </a:t>
            </a:r>
            <a:r>
              <a:rPr sz="2800">
                <a:solidFill>
                  <a:srgbClr val="000000"/>
                </a:solidFill>
                <a:latin typeface="Arial"/>
                <a:ea typeface="Arial"/>
                <a:cs typeface="Arial"/>
              </a:rPr>
              <a:t>Familiar activities aim to encourage daily engagement and shared play with family.</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caregivers. </a:t>
            </a:r>
            <a:r>
              <a:rPr sz="2800">
                <a:solidFill>
                  <a:srgbClr val="000000"/>
                </a:solidFill>
                <a:latin typeface="Arial"/>
                <a:ea typeface="Arial"/>
                <a:cs typeface="Arial"/>
              </a:rPr>
              <a:t>One local view shows completed sessions, reminder logs and activity trends.</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For remote households. </a:t>
            </a:r>
            <a:r>
              <a:rPr sz="2800">
                <a:solidFill>
                  <a:srgbClr val="000000"/>
                </a:solidFill>
                <a:latin typeface="Arial"/>
                <a:ea typeface="Arial"/>
                <a:cs typeface="Arial"/>
              </a:rPr>
              <a:t>Core use needs no continuous connection or special hardware. Optional cloud services add running costs.</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How we will measure benefit. </a:t>
            </a:r>
            <a:r>
              <a:rPr sz="2800">
                <a:solidFill>
                  <a:srgbClr val="000000"/>
                </a:solidFill>
                <a:latin typeface="Arial"/>
                <a:ea typeface="Arial"/>
                <a:cs typeface="Arial"/>
              </a:rPr>
              <a:t>Measure completion, reminder acknowledgement, caregiver effort and usability in a pilot. Clinical benefit remains unproven.</a:t>
            </a:r>
          </a:p>
        </p:txBody>
      </p:sp>
      <p:sp>
        <p:nvSpPr>
          <p:cNvPr id="6" name="Slide Number Placeholder 5">
            <a:extLst xmlns:a="http://schemas.openxmlformats.org/drawingml/2006/main">
              <a:ext uri="{FF2B5EF4-FFF2-40B4-BE49-F238E27FC236}">
                <a16:creationId xmlns:a16="http://schemas.microsoft.com/office/drawing/2014/main" id="{CD713873-6A6A-4AFB-BE8C-9D15573B28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635E07C-62D6-40F3-92F1-184B01AA3491}"/>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7418" name="Picture 10"/>
          <p:cNvPicPr>
            <a:picLocks xmlns:a="http://schemas.openxmlformats.org/drawingml/2006/main" noChangeAspect="1"/>
          </p:cNvPicPr>
          <p:nvPr/>
        </p:nvPicPr>
        <p:blipFill>
          <a:blip xmlns:r="http://schemas.openxmlformats.org/officeDocument/2006/relationships" xmlns:a="http://schemas.openxmlformats.org/drawingml/2006/main" r:embed="R849da7e2cd58436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1AF2B683-5EF2-4B69-ABC6-7046177BE8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RESEARCH  AND REFERENCES</a:t>
            </a:r>
          </a:p>
        </p:txBody>
      </p:sp>
      <p:sp>
        <p:nvSpPr>
          <p:cNvPr id="17410" name="TextBox 8">
            <a:extLst xmlns:a="http://schemas.openxmlformats.org/drawingml/2006/main">
              <a:ext uri="{FF2B5EF4-FFF2-40B4-BE49-F238E27FC236}">
                <a16:creationId xmlns:a16="http://schemas.microsoft.com/office/drawing/2014/main" id="{7473C15C-39D5-4702-B1A9-4AFB9421681C}"/>
              </a:ext>
            </a:extLst>
          </p:cNvPr>
          <p:cNvSpPr>
            <a:spLocks xmlns:a="http://schemas.openxmlformats.org/drawingml/2006/main" noGrp="1"/>
          </p:cNvSpPr>
          <p:nvPr/>
        </p:nvSpPr>
        <p:spPr>
          <a:xfrm xmlns:a="http://schemas.openxmlformats.org/drawingml/2006/main">
            <a:off x="609600" y="1571625"/>
            <a:ext cx="10972800" cy="45815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xmlns:r="http://schemas.openxmlformats.org/officeDocument/2006/relationships" r:id="Ra0fa77ac934046b0"/>
              </a:rPr>
              <a:t>[1] Chan et al. (2024), npj Digital Medicine</a:t>
            </a:r>
            <a:r>
              <a:rPr sz="2800">
                <a:solidFill>
                  <a:srgbClr val="000000"/>
                </a:solidFill>
                <a:latin typeface="Arial"/>
                <a:ea typeface="Arial"/>
                <a:cs typeface="Arial"/>
              </a:rPr>
              <a:t>
Memory training. Design link: Pairs and Tray. Dementia evidence is limited.</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xmlns:r="http://schemas.openxmlformats.org/officeDocument/2006/relationships" r:id="R1b735d2b9b7e48e6"/>
              </a:rPr>
              <a:t>[2] Woods et al. (2023), Cochrane</a:t>
            </a:r>
            <a:r>
              <a:rPr sz="2800">
                <a:solidFill>
                  <a:srgbClr val="000000"/>
                </a:solidFill>
                <a:latin typeface="Arial"/>
                <a:ea typeface="Arial"/>
                <a:cs typeface="Arial"/>
              </a:rPr>
              <a:t>
Cognitive stimulation. Design link: varied activities. Evidence is mostly from groups.</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hlinkClick xmlns:r="http://schemas.openxmlformats.org/officeDocument/2006/relationships" r:id="Rbab624669fd94641"/>
              </a:rPr>
              <a:t>[3] Elfrink et al. (2021), PLOS ONE</a:t>
            </a:r>
            <a:r>
              <a:rPr sz="2800">
                <a:solidFill>
                  <a:srgbClr val="000000"/>
                </a:solidFill>
                <a:latin typeface="Arial"/>
                <a:ea typeface="Arial"/>
                <a:cs typeface="Arial"/>
              </a:rPr>
              <a:t>
Life Story Book trial. Design link: Festival Tales. Most outcomes were not significant.</a:t>
            </a:r>
          </a:p>
          <a:p xmlns:a="http://schemas.openxmlformats.org/drawingml/2006/main">
            <a:pPr algn="l">
              <a:spcAft>
                <a:spcPts val="1100"/>
              </a:spcAft>
              <a:defRPr sz="2800">
                <a:solidFill>
                  <a:srgbClr val="000000"/>
                </a:solidFill>
                <a:latin typeface="Arial"/>
                <a:ea typeface="Arial"/>
                <a:cs typeface="Arial"/>
              </a:defRPr>
            </a:pPr>
            <a:r>
              <a:rPr sz="2800" b="1">
                <a:solidFill>
                  <a:srgbClr val="204D82"/>
                </a:solidFill>
                <a:latin typeface="Arial"/>
                <a:ea typeface="Arial"/>
                <a:cs typeface="Arial"/>
              </a:rPr>
              <a:t>Scope: </a:t>
            </a:r>
            <a:r>
              <a:rPr sz="2800">
                <a:solidFill>
                  <a:srgbClr val="000000"/>
                </a:solidFill>
                <a:latin typeface="Arial"/>
                <a:ea typeface="Arial"/>
                <a:cs typeface="Arial"/>
              </a:rPr>
              <a:t>2021–2026 research. These papers do not validate Smriti Sathi.</a:t>
            </a:r>
          </a:p>
        </p:txBody>
      </p:sp>
      <p:sp>
        <p:nvSpPr>
          <p:cNvPr id="6" name="Slide Number Placeholder 5">
            <a:extLst xmlns:a="http://schemas.openxmlformats.org/drawingml/2006/main">
              <a:ext uri="{FF2B5EF4-FFF2-40B4-BE49-F238E27FC236}">
                <a16:creationId xmlns:a16="http://schemas.microsoft.com/office/drawing/2014/main" id="{007ABE9D-675F-40C9-831C-06CC7EA792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3E6B7C0-968E-4F48-B1F6-C6EE832AB9DB}"/>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Team</a:t>
            </a:r>
            <a:endParaRPr/>
          </a:p>
          <a:p xmlns:a="http://schemas.openxmlformats.org/drawingml/2006/main">
            <a:pPr algn="ctr">
              <a:buNone/>
              <a:defRPr sz="1800">
                <a:solidFill>
                  <a:srgbClr val="000000"/>
                </a:solidFill>
                <a:latin typeface="Arial"/>
                <a:ea typeface="Arial"/>
                <a:cs typeface="Arial"/>
              </a:defRPr>
            </a:pPr>
            <a:r>
              <a:rPr sz="1800">
                <a:solidFill>
                  <a:srgbClr val="000000"/>
                </a:solidFill>
                <a:latin typeface="Arial"/>
                <a:ea typeface="Arial"/>
                <a:cs typeface="Arial"/>
              </a:rPr>
              <a:t>Vincera</a:t>
            </a:r>
            <a:endParaRPr/>
          </a:p>
        </p:txBody>
      </p:sp>
      <p:pic>
        <p:nvPicPr>
          <p:cNvPr id="17418" name="Picture 11"/>
          <p:cNvPicPr>
            <a:picLocks xmlns:a="http://schemas.openxmlformats.org/drawingml/2006/main" noChangeAspect="1"/>
          </p:cNvPicPr>
          <p:nvPr/>
        </p:nvPicPr>
        <p:blipFill>
          <a:blip xmlns:r="http://schemas.openxmlformats.org/officeDocument/2006/relationships" xmlns:a="http://schemas.openxmlformats.org/drawingml/2006/main" r:embed="Rbb0aa5ca75a642d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6" name="Slide Number Placeholder 5">
            <a:extLst xmlns:a="http://schemas.openxmlformats.org/drawingml/2006/main">
              <a:ext uri="{FF2B5EF4-FFF2-40B4-BE49-F238E27FC236}">
                <a16:creationId xmlns:a16="http://schemas.microsoft.com/office/drawing/2014/main" id="{2DA4009D-5CD4-4153-86D3-8B7B8559BE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7</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DF8F1EC0-88CB-4B2A-BC79-4196F02C9FED}"/>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3" name="Round Diagonal Corner Rectangle 2">
            <a:extLst xmlns:a="http://schemas.openxmlformats.org/drawingml/2006/main">
              <a:ext uri="{FF2B5EF4-FFF2-40B4-BE49-F238E27FC236}">
                <a16:creationId xmlns:a16="http://schemas.microsoft.com/office/drawing/2014/main" id="{C4E3D081-1811-4259-AC80-58D3F5757CEE}"/>
              </a:ext>
            </a:extLst>
          </p:cNvPr>
          <p:cNvSpPr>
            <a:spLocks xmlns:a="http://schemas.openxmlformats.org/drawingml/2006/main" noGrp="1"/>
          </p:cNvSpPr>
          <p:nvPr/>
        </p:nvSpPr>
        <p:spPr>
          <a:xfrm xmlns:a="http://schemas.openxmlformats.org/drawingml/2006/main">
            <a:off x="0" y="1791032"/>
            <a:ext cx="12192000" cy="4319200"/>
          </a:xfrm>
          <a:prstGeom xmlns:a="http://schemas.openxmlformats.org/drawingml/2006/main" prst="round2DiagRect">
            <a:avLst/>
          </a:prstGeom>
          <a:solidFill xmlns:a="http://schemas.openxmlformats.org/drawingml/2006/main">
            <a:schemeClr val="accent1">
              <a:lumMod val="20000"/>
              <a:lumOff val="80000"/>
            </a:schemeClr>
          </a:solidFill>
          <a:ln xmlns:a="http://schemas.openxmlformats.org/drawingml/2006/main" w="38100"/>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Google Shape;100;p3">
            <a:extLst xmlns:a="http://schemas.openxmlformats.org/drawingml/2006/main">
              <a:ext uri="{FF2B5EF4-FFF2-40B4-BE49-F238E27FC236}">
                <a16:creationId xmlns:a16="http://schemas.microsoft.com/office/drawing/2014/main" id="{9CBD46E4-33AA-4153-8E4C-AC8BDEF95C63}"/>
              </a:ext>
            </a:extLst>
          </p:cNvPr>
          <p:cNvSpPr>
            <a:spLocks xmlns:a="http://schemas.openxmlformats.org/drawingml/2006/main" noGrp="1"/>
          </p:cNvSpPr>
          <p:nvPr/>
        </p:nvSpPr>
        <p:spPr>
          <a:xfrm xmlns:a="http://schemas.openxmlformats.org/drawingml/2006/main">
            <a:off x="367832" y="1915454"/>
            <a:ext cx="11764736" cy="40703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514350" marR="0" lvl="0" indent="-514350" algn="just">
              <a:lnSpc>
                <a:spcPct val="90000"/>
              </a:lnSpc>
              <a:spcBef>
                <a:spcPts val="0"/>
              </a:spcBef>
              <a:spcAft>
                <a:spcPts val="0"/>
              </a:spcAft>
              <a:buClr>
                <a:schemeClr val="dk1"/>
              </a:buClr>
              <a:buSzPct val="100000"/>
              <a:buFont typeface="Calibri"/>
              <a:buAutoNum type="arabicPeriod"/>
            </a:pPr>
            <a:r>
              <a:rPr b="1" i="0" u="none" cap="none">
                <a:solidFill>
                  <a:schemeClr val="dk1"/>
                </a:solidFill>
                <a:latin typeface="Arial"/>
                <a:ea typeface="Arial"/>
                <a:cs typeface="Arial"/>
              </a:rPr>
              <a:t>Kindly keep the maximum slides limit up to six </a:t>
            </a:r>
            <a:r>
              <a:rPr b="1" i="0" u="none" cap="none">
                <a:solidFill>
                  <a:srgbClr val="C00000"/>
                </a:solidFill>
                <a:latin typeface="Arial"/>
                <a:ea typeface="Arial"/>
                <a:cs typeface="Arial"/>
              </a:rPr>
              <a:t>(6). </a:t>
            </a:r>
            <a:r>
              <a:rPr b="1" i="0" u="none" cap="none">
                <a:solidFill>
                  <a:schemeClr val="dk1"/>
                </a:solidFill>
                <a:latin typeface="Arial"/>
                <a:ea typeface="Arial"/>
                <a:cs typeface="Arial"/>
              </a:rPr>
              <a:t>( Including the </a:t>
            </a:r>
            <a:r>
              <a:rPr b="1" i="0" u="none" cap="none">
                <a:solidFill>
                  <a:schemeClr val="dk1"/>
                </a:solidFill>
                <a:latin typeface="Arial"/>
                <a:ea typeface="Arial"/>
                <a:cs typeface="Arial"/>
              </a:rPr>
              <a:t>title slide) </a:t>
            </a:r>
            <a:endParaRPr b="1">
              <a:latin typeface="Arial"/>
              <a:ea typeface="Arial"/>
              <a:cs typeface="Arial"/>
            </a:endParaRPr>
          </a:p>
          <a:p xmlns:a="http://schemas.openxmlformats.org/drawingml/2006/main">
            <a:pPr marL="514350" marR="0" lvl="0" indent="-514350" algn="just">
              <a:lnSpc>
                <a:spcPct val="90000"/>
              </a:lnSpc>
              <a:spcBef>
                <a:spcPts val="1000"/>
              </a:spcBef>
              <a:spcAft>
                <a:spcPts val="0"/>
              </a:spcAft>
              <a:buClr>
                <a:schemeClr val="dk1"/>
              </a:buClr>
              <a:buSzPct val="100000"/>
              <a:buFont typeface="Calibri"/>
              <a:buAutoNum type="arabicPeriod"/>
            </a:pPr>
            <a:r>
              <a:rPr b="1" i="0" u="none" cap="none">
                <a:solidFill>
                  <a:schemeClr val="dk1"/>
                </a:solidFill>
                <a:latin typeface="Arial"/>
                <a:ea typeface="Arial"/>
                <a:cs typeface="Arial"/>
              </a:rPr>
              <a:t>Try to avoid paragraphs and post your idea in points /diagrams / Infographics /pictures </a:t>
            </a:r>
            <a:endParaRPr b="1">
              <a:latin typeface="Arial"/>
              <a:ea typeface="Arial"/>
              <a:cs typeface="Arial"/>
            </a:endParaRPr>
          </a:p>
          <a:p xmlns:a="http://schemas.openxmlformats.org/drawingml/2006/main">
            <a:pPr marL="514350" marR="0" lvl="0" indent="-514350" algn="just">
              <a:lnSpc>
                <a:spcPct val="90000"/>
              </a:lnSpc>
              <a:spcBef>
                <a:spcPts val="1000"/>
              </a:spcBef>
              <a:spcAft>
                <a:spcPts val="0"/>
              </a:spcAft>
              <a:buClr>
                <a:schemeClr val="dk1"/>
              </a:buClr>
              <a:buSzPct val="100000"/>
              <a:buFont typeface="Calibri"/>
              <a:buAutoNum type="arabicPeriod"/>
            </a:pPr>
            <a:r>
              <a:rPr b="1" i="0" u="none" cap="none">
                <a:solidFill>
                  <a:schemeClr val="dk1"/>
                </a:solidFill>
                <a:latin typeface="Arial"/>
                <a:ea typeface="Arial"/>
                <a:cs typeface="Arial"/>
              </a:rPr>
              <a:t>Keep your explanation precise and easy to understand</a:t>
            </a:r>
            <a:endParaRPr b="1">
              <a:latin typeface="Arial"/>
              <a:ea typeface="Arial"/>
              <a:cs typeface="Arial"/>
            </a:endParaRPr>
          </a:p>
          <a:p xmlns:a="http://schemas.openxmlformats.org/drawingml/2006/main">
            <a:pPr marL="514350" marR="0" lvl="0" indent="-514350" algn="just">
              <a:lnSpc>
                <a:spcPct val="90000"/>
              </a:lnSpc>
              <a:spcBef>
                <a:spcPts val="1000"/>
              </a:spcBef>
              <a:spcAft>
                <a:spcPts val="0"/>
              </a:spcAft>
              <a:buClr>
                <a:schemeClr val="dk1"/>
              </a:buClr>
              <a:buSzPct val="100000"/>
              <a:buFont typeface="Calibri"/>
              <a:buAutoNum type="arabicPeriod"/>
            </a:pPr>
            <a:r>
              <a:rPr b="1" i="0" u="none" cap="none">
                <a:solidFill>
                  <a:schemeClr val="dk1"/>
                </a:solidFill>
                <a:latin typeface="Arial"/>
                <a:ea typeface="Arial"/>
                <a:cs typeface="Arial"/>
              </a:rPr>
              <a:t>Idea should be unique and novel. </a:t>
            </a:r>
            <a:endParaRPr b="1">
              <a:latin typeface="Arial"/>
              <a:ea typeface="Arial"/>
              <a:cs typeface="Arial"/>
            </a:endParaRPr>
          </a:p>
          <a:p xmlns:a="http://schemas.openxmlformats.org/drawingml/2006/main">
            <a:pPr marL="514350" marR="0" lvl="0" indent="-514350" algn="just">
              <a:lnSpc>
                <a:spcPct val="90000"/>
              </a:lnSpc>
              <a:spcBef>
                <a:spcPts val="1000"/>
              </a:spcBef>
              <a:spcAft>
                <a:spcPts val="0"/>
              </a:spcAft>
              <a:buClr>
                <a:schemeClr val="dk1"/>
              </a:buClr>
              <a:buSzPct val="100000"/>
              <a:buFont typeface="Calibri"/>
              <a:buAutoNum type="arabicPeriod"/>
            </a:pPr>
            <a:r>
              <a:rPr b="1" i="0" u="none" cap="none">
                <a:solidFill>
                  <a:schemeClr val="dk1"/>
                </a:solidFill>
                <a:latin typeface="Arial"/>
                <a:ea typeface="Arial"/>
                <a:cs typeface="Arial"/>
              </a:rPr>
              <a:t>You can only use provided </a:t>
            </a:r>
            <a:r>
              <a:rPr b="1">
                <a:solidFill>
                  <a:schemeClr val="dk1"/>
                </a:solidFill>
                <a:latin typeface="Arial"/>
                <a:ea typeface="Arial"/>
                <a:cs typeface="Arial"/>
              </a:rPr>
              <a:t>template</a:t>
            </a:r>
            <a:r>
              <a:rPr b="1" i="0" u="none" cap="none">
                <a:solidFill>
                  <a:schemeClr val="dk1"/>
                </a:solidFill>
                <a:latin typeface="Arial"/>
                <a:ea typeface="Arial"/>
                <a:cs typeface="Arial"/>
              </a:rPr>
              <a:t> for making the </a:t>
            </a:r>
            <a:r>
              <a:rPr b="1">
                <a:solidFill>
                  <a:schemeClr val="dk1"/>
                </a:solidFill>
                <a:latin typeface="Arial"/>
                <a:ea typeface="Arial"/>
                <a:cs typeface="Arial"/>
              </a:rPr>
              <a:t>PPT</a:t>
            </a:r>
            <a:r>
              <a:rPr b="1" i="0" u="none" cap="none">
                <a:solidFill>
                  <a:schemeClr val="dk1"/>
                </a:solidFill>
                <a:latin typeface="Arial"/>
                <a:ea typeface="Arial"/>
                <a:cs typeface="Arial"/>
              </a:rPr>
              <a:t> without changing the idea details pointers (mentioned in previous slides).</a:t>
            </a:r>
            <a:endParaRPr b="1" i="0" u="none" cap="none">
              <a:solidFill>
                <a:schemeClr val="dk1"/>
              </a:solidFill>
              <a:latin typeface="Arial"/>
              <a:ea typeface="Arial"/>
              <a:cs typeface="Arial"/>
            </a:endParaRPr>
          </a:p>
          <a:p xmlns:a="http://schemas.openxmlformats.org/drawingml/2006/main">
            <a:pPr marL="514350" marR="0" lvl="0" indent="-514350" algn="just">
              <a:lnSpc>
                <a:spcPct val="90000"/>
              </a:lnSpc>
              <a:spcBef>
                <a:spcPts val="1000"/>
              </a:spcBef>
              <a:spcAft>
                <a:spcPts val="0"/>
              </a:spcAft>
              <a:buClr>
                <a:schemeClr val="dk1"/>
              </a:buClr>
              <a:buSzPct val="100000"/>
              <a:buFont typeface="Calibri"/>
              <a:buAutoNum type="arabicPeriod"/>
            </a:pPr>
            <a:r>
              <a:rPr b="1" i="0" u="none" cap="none">
                <a:solidFill>
                  <a:schemeClr val="dk1"/>
                </a:solidFill>
                <a:latin typeface="Arial"/>
                <a:ea typeface="Arial"/>
                <a:cs typeface="Arial"/>
              </a:rPr>
              <a:t>You need to save the file in PDF and upload the same on portal. No PPT, Word Doc or any other format will be supported.</a:t>
            </a:r>
            <a:endParaRPr b="1">
              <a:latin typeface="Arial"/>
              <a:ea typeface="Arial"/>
              <a:cs typeface="Arial"/>
            </a:endParaRPr>
          </a:p>
          <a:p xmlns:a="http://schemas.openxmlformats.org/drawingml/2006/main">
            <a:pPr marL="514350" marR="0" lvl="0" indent="-349885" algn="just">
              <a:lnSpc>
                <a:spcPct val="90000"/>
              </a:lnSpc>
              <a:spcBef>
                <a:spcPts val="1000"/>
              </a:spcBef>
              <a:spcAft>
                <a:spcPts val="0"/>
              </a:spcAft>
              <a:buClr>
                <a:schemeClr val="dk1"/>
              </a:buClr>
              <a:buSzPct val="100000"/>
              <a:buFont typeface="Calibri"/>
              <a:buNone/>
            </a:pPr>
            <a:endParaRPr b="1" i="0" u="none" cap="none">
              <a:solidFill>
                <a:schemeClr val="dk1"/>
              </a:solidFill>
              <a:latin typeface="Arial"/>
              <a:ea typeface="Arial"/>
              <a:cs typeface="Arial"/>
            </a:endParaRPr>
          </a:p>
          <a:p xmlns:a="http://schemas.openxmlformats.org/drawingml/2006/main">
            <a:pPr marL="0" marR="0" lvl="0" indent="0" algn="just">
              <a:lnSpc>
                <a:spcPct val="90000"/>
              </a:lnSpc>
              <a:spcBef>
                <a:spcPts val="1000"/>
              </a:spcBef>
              <a:spcAft>
                <a:spcPts val="0"/>
              </a:spcAft>
              <a:buClr>
                <a:schemeClr val="dk1"/>
              </a:buClr>
              <a:buSzPct val="100000"/>
              <a:buFont typeface="Arial"/>
              <a:buNone/>
            </a:pPr>
            <a:r>
              <a:rPr b="1" i="0" u="none" cap="none">
                <a:solidFill>
                  <a:srgbClr val="C00000"/>
                </a:solidFill>
                <a:latin typeface="Arial"/>
                <a:ea typeface="Arial"/>
                <a:cs typeface="Arial"/>
              </a:rPr>
              <a:t>Note - You can delete this slide (Important Pointers) when you upload the details of your idea on SIH portal.</a:t>
            </a:r>
            <a:endParaRPr b="1">
              <a:solidFill>
                <a:srgbClr val="C00000"/>
              </a:solidFill>
              <a:latin typeface="Arial"/>
              <a:ea typeface="Arial"/>
              <a:cs typeface="Arial"/>
            </a:endParaRPr>
          </a:p>
          <a:p xmlns:a="http://schemas.openxmlformats.org/drawingml/2006/main">
            <a:pPr marL="914400" marR="0" lvl="1" indent="-316230" algn="just">
              <a:lnSpc>
                <a:spcPct val="90000"/>
              </a:lnSpc>
              <a:spcBef>
                <a:spcPts val="500"/>
              </a:spcBef>
              <a:spcAft>
                <a:spcPts val="0"/>
              </a:spcAft>
              <a:buClr>
                <a:schemeClr val="dk1"/>
              </a:buClr>
              <a:buSzPct val="100000"/>
              <a:buFont typeface="Calibri"/>
              <a:buNone/>
            </a:pPr>
            <a:endParaRPr sz="2000" b="1" i="0" u="none" cap="none">
              <a:solidFill>
                <a:schemeClr val="dk1"/>
              </a:solidFill>
              <a:latin typeface="Arial"/>
              <a:ea typeface="Arial"/>
              <a:cs typeface="Arial"/>
            </a:endParaRPr>
          </a:p>
        </p:txBody>
      </p:sp>
      <p:sp>
        <p:nvSpPr>
          <p:cNvPr id="4" name="TextBox 3">
            <a:extLst xmlns:a="http://schemas.openxmlformats.org/drawingml/2006/main">
              <a:ext uri="{FF2B5EF4-FFF2-40B4-BE49-F238E27FC236}">
                <a16:creationId xmlns:a16="http://schemas.microsoft.com/office/drawing/2014/main" id="{5E6A35AD-59CC-4038-872A-BE121306F356}"/>
              </a:ext>
            </a:extLst>
          </p:cNvPr>
          <p:cNvSpPr>
            <a:spLocks xmlns:a="http://schemas.openxmlformats.org/drawingml/2006/main" noGrp="1"/>
          </p:cNvSpPr>
          <p:nvPr/>
        </p:nvSpPr>
        <p:spPr>
          <a:xfrm xmlns:a="http://schemas.openxmlformats.org/drawingml/2006/main">
            <a:off x="1393371" y="107066"/>
            <a:ext cx="8410540"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600" b="1">
                <a:latin typeface="Times New Roman"/>
                <a:ea typeface="Times New Roman"/>
                <a:cs typeface="Times New Roman"/>
              </a:rPr>
              <a:t>IMPORTANT INSTRUCTIONS</a:t>
            </a:r>
            <a:endParaRPr sz="3600" b="1">
              <a:latin typeface="Times New Roman"/>
              <a:ea typeface="Times New Roman"/>
              <a:cs typeface="Times New Roman"/>
            </a:endParaRPr>
          </a:p>
        </p:txBody>
      </p:sp>
      <p:sp>
        <p:nvSpPr>
          <p:cNvPr id="5" name="TextBox 4">
            <a:extLst xmlns:a="http://schemas.openxmlformats.org/drawingml/2006/main">
              <a:ext uri="{FF2B5EF4-FFF2-40B4-BE49-F238E27FC236}">
                <a16:creationId xmlns:a16="http://schemas.microsoft.com/office/drawing/2014/main" id="{F443201D-EAA0-48F3-96B9-56FFC414D03D}"/>
              </a:ext>
            </a:extLst>
          </p:cNvPr>
          <p:cNvSpPr>
            <a:spLocks xmlns:a="http://schemas.openxmlformats.org/drawingml/2006/main" noGrp="1"/>
          </p:cNvSpPr>
          <p:nvPr/>
        </p:nvSpPr>
        <p:spPr>
          <a:xfrm xmlns:a="http://schemas.openxmlformats.org/drawingml/2006/main">
            <a:off x="602343" y="1181900"/>
            <a:ext cx="9557657" cy="341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lnSpc>
                <a:spcPct val="90000"/>
              </a:lnSpc>
              <a:spcBef>
                <a:spcPts val="1000"/>
              </a:spcBef>
              <a:spcAft>
                <a:spcPts val="0"/>
              </a:spcAft>
              <a:buClr>
                <a:schemeClr val="dk1"/>
              </a:buClr>
              <a:buSzPct val="100000"/>
              <a:buNone/>
            </a:pPr>
            <a:r>
              <a:rPr b="1">
                <a:solidFill>
                  <a:schemeClr val="dk1"/>
                </a:solidFill>
                <a:latin typeface="Arial"/>
                <a:ea typeface="Arial"/>
                <a:cs typeface="Arial"/>
              </a:rPr>
              <a:t>Please ensure below pointers are met while submitting the Idea PPT:</a:t>
            </a:r>
            <a:endParaRPr b="1">
              <a:solidFill>
                <a:schemeClr val="dk1"/>
              </a:solidFill>
              <a:latin typeface="Arial"/>
              <a:ea typeface="Arial"/>
              <a:cs typeface="Arial"/>
            </a:endParaRPr>
          </a:p>
        </p:txBody>
      </p:sp>
      <p:pic>
        <p:nvPicPr>
          <p:cNvPr id="21" name="Picture 12"/>
          <p:cNvPicPr>
            <a:picLocks xmlns:a="http://schemas.openxmlformats.org/drawingml/2006/main" noChangeAspect="1"/>
          </p:cNvPicPr>
          <p:nvPr/>
        </p:nvPicPr>
        <p:blipFill>
          <a:blip xmlns:r="http://schemas.openxmlformats.org/officeDocument/2006/relationships" xmlns:a="http://schemas.openxmlformats.org/drawingml/2006/main" r:embed="R78cec1a2b9494b7c"/>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158808441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2026-09-11T04:26:42.0000000Z</dcterms:created>
  <dcterms:modified xsi:type="dcterms:W3CDTF">2026-09-11T04:26:42.0000000Z</dcterms:modified>
</coreProperties>
</file>